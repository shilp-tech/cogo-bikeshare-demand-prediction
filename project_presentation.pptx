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Maven Pro" panose="020B0604020202020204" charset="0"/>
      <p:regular r:id="rId23"/>
      <p:bold r:id="rId24"/>
    </p:embeddedFont>
    <p:embeddedFont>
      <p:font typeface="Nunito"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CFE100-5331-4432-B5D4-83C2F04BC905}">
  <a:tblStyle styleId="{31CFE100-5331-4432-B5D4-83C2F04BC9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52" autoAdjust="0"/>
  </p:normalViewPr>
  <p:slideViewPr>
    <p:cSldViewPr snapToGrid="0">
      <p:cViewPr varScale="1">
        <p:scale>
          <a:sx n="131" d="100"/>
          <a:sy n="131" d="100"/>
        </p:scale>
        <p:origin x="104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Shilp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88fd7c5147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88fd7c514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Shilp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Emma’s slide, Columbus by population is slightly smaller than Austin</a:t>
            </a:r>
            <a:br>
              <a:rPr lang="en"/>
            </a:br>
            <a:r>
              <a:rPr lang="en"/>
              <a:t>Q1. Balance bike distribution by region, by season</a:t>
            </a:r>
            <a:endParaRPr/>
          </a:p>
          <a:p>
            <a:pPr marL="0" lvl="0" indent="0" algn="l" rtl="0">
              <a:spcBef>
                <a:spcPts val="0"/>
              </a:spcBef>
              <a:spcAft>
                <a:spcPts val="0"/>
              </a:spcAft>
              <a:buNone/>
            </a:pPr>
            <a:r>
              <a:rPr lang="en"/>
              <a:t>Q2. Factors for long duration? Air up those tires </a:t>
            </a:r>
            <a:endParaRPr/>
          </a:p>
          <a:p>
            <a:pPr marL="0" lvl="0" indent="0" algn="l" rtl="0">
              <a:spcBef>
                <a:spcPts val="0"/>
              </a:spcBef>
              <a:spcAft>
                <a:spcPts val="0"/>
              </a:spcAft>
              <a:buNone/>
            </a:pPr>
            <a:r>
              <a:rPr lang="en"/>
              <a:t>Q3. helps stabilize long term demand, it is a competitive market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87b9879698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87b9879698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Adrian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8ed8c4efe6_0_3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8ed8c4efe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Adrian</a:t>
            </a:r>
            <a:endParaRPr/>
          </a:p>
          <a:p>
            <a:pPr marL="0" lvl="0" indent="0" algn="l" rtl="0">
              <a:spcBef>
                <a:spcPts val="0"/>
              </a:spcBef>
              <a:spcAft>
                <a:spcPts val="0"/>
              </a:spcAft>
              <a:buNone/>
            </a:pPr>
            <a:endParaRPr/>
          </a:p>
          <a:p>
            <a:pPr marL="0" lvl="0" indent="0" algn="l" rtl="0">
              <a:spcBef>
                <a:spcPts val="0"/>
              </a:spcBef>
              <a:spcAft>
                <a:spcPts val="0"/>
              </a:spcAft>
              <a:buNone/>
            </a:pPr>
            <a:r>
              <a:rPr lang="en"/>
              <a:t>What are the required assumptions for modeling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87b9879698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87b9879698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Shilp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8ec9c8e6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8ec9c8e6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After the structuring and cleaning, we created new features from the raw data. We first calculated the ride duration using the start and end times for each trip. We found that the average ride duration is about 22 minutes. The histogram is strongly right skewed indicating that there are high values for ride duration pulling the average up</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8ec9c8e64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8ec9c8e64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next measure we created from the raw data is the trip distance. We calculated this new feature using the start and end latitude and longitude. We found that on average the distance between the start and end of the ride is about 1 mile. The actual distance traveled may be more for different routes or trips taken in circles. Distance for round trips would also be calculated as 0 miles, since the start and end location will be the same</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8ec9c8e64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8ec9c8e64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Using the date and time features from the raw data we extracted features for the season, and day of the week to see if there are any patterns related to these features. We also defined regions of Columbus into north, south, east and west relative to the center latitude and longitude for the coordinates of Columbus, OH.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finally we sourced a data set from the National Oceanic and Atmospheric Administration that captured min, max, and average temperature, and precipitation and snow fall in inches and join this to our bike share data set based on the date of the trip instance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Emma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c6f9e470d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Emma</a:t>
            </a:r>
            <a:endParaRPr/>
          </a:p>
          <a:p>
            <a:pPr marL="0" lvl="0" indent="0" algn="l" rtl="0">
              <a:spcBef>
                <a:spcPts val="0"/>
              </a:spcBef>
              <a:spcAft>
                <a:spcPts val="0"/>
              </a:spcAft>
              <a:buNone/>
            </a:pPr>
            <a:r>
              <a:rPr lang="en">
                <a:solidFill>
                  <a:schemeClr val="dk1"/>
                </a:solidFill>
              </a:rPr>
              <a:t>Model approach assumptions available upon request, they are in the technical documentation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8ec9c8e64d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8ec9c8e64d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88fd7c514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88fd7c514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88fd7c5147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88fd7c5147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600" b="1">
                <a:solidFill>
                  <a:srgbClr val="424242"/>
                </a:solidFill>
                <a:latin typeface="Nunito"/>
                <a:ea typeface="Nunito"/>
                <a:cs typeface="Nunito"/>
                <a:sym typeface="Nunito"/>
              </a:rPr>
              <a:t>Emma</a:t>
            </a:r>
            <a:br>
              <a:rPr lang="en" sz="1600" b="1">
                <a:solidFill>
                  <a:srgbClr val="424242"/>
                </a:solidFill>
                <a:latin typeface="Nunito"/>
                <a:ea typeface="Nunito"/>
                <a:cs typeface="Nunito"/>
                <a:sym typeface="Nunito"/>
              </a:rPr>
            </a:br>
            <a:r>
              <a:rPr lang="en" sz="1600" b="1">
                <a:solidFill>
                  <a:srgbClr val="424242"/>
                </a:solidFill>
                <a:latin typeface="Nunito"/>
                <a:ea typeface="Nunito"/>
                <a:cs typeface="Nunito"/>
                <a:sym typeface="Nunito"/>
              </a:rPr>
              <a:t>ML Requirement:</a:t>
            </a:r>
            <a:r>
              <a:rPr lang="en" sz="1600">
                <a:solidFill>
                  <a:srgbClr val="424242"/>
                </a:solidFill>
                <a:latin typeface="Nunito"/>
                <a:ea typeface="Nunito"/>
                <a:cs typeface="Nunito"/>
                <a:sym typeface="Nunito"/>
              </a:rPr>
              <a:t> Using ML to model the expected ride duration allows the company to get ahead of maintenance impacts, which would be effectively masked/ignored by simple summary statistics.</a:t>
            </a:r>
            <a:endParaRPr sz="1600">
              <a:solidFill>
                <a:srgbClr val="424242"/>
              </a:solidFill>
              <a:latin typeface="Nunito"/>
              <a:ea typeface="Nunito"/>
              <a:cs typeface="Nunito"/>
              <a:sym typeface="Nunito"/>
            </a:endParaRPr>
          </a:p>
          <a:p>
            <a:pPr marL="914400" lvl="1" indent="-330200" algn="l" rtl="0">
              <a:lnSpc>
                <a:spcPct val="115000"/>
              </a:lnSpc>
              <a:spcBef>
                <a:spcPts val="1200"/>
              </a:spcBef>
              <a:spcAft>
                <a:spcPts val="0"/>
              </a:spcAft>
              <a:buClr>
                <a:srgbClr val="424242"/>
              </a:buClr>
              <a:buSzPts val="1600"/>
              <a:buFont typeface="Nunito"/>
              <a:buChar char="○"/>
            </a:pPr>
            <a:r>
              <a:rPr lang="en" sz="1600">
                <a:solidFill>
                  <a:srgbClr val="424242"/>
                </a:solidFill>
                <a:latin typeface="Nunito"/>
                <a:ea typeface="Nunito"/>
                <a:cs typeface="Nunito"/>
                <a:sym typeface="Nunito"/>
              </a:rPr>
              <a:t>ML has a large amount of power to capture nonlinear relationships/interactions using a large variety of inputs/features.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88fd7c5147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88fd7c5147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Emma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88fd7c5147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88fd7c5147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-&gt; ML Requirement: In an effort for the company to target/personalize the bike ride experience, being able to model behavior/environmental impacts on the probability that a ride was taken by a member allows the company to understand behavior differences and potential areas to recruit new members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help CoGo market to leisure riders who behavior indicates they might be interested in a membership, stabilizing long term demand and competitive edge in transportation in Columbus.</a:t>
            </a:r>
            <a:endParaRPr/>
          </a:p>
          <a:p>
            <a:pPr marL="0" lvl="0" indent="0" algn="l" rtl="0">
              <a:spcBef>
                <a:spcPts val="0"/>
              </a:spcBef>
              <a:spcAft>
                <a:spcPts val="0"/>
              </a:spcAft>
              <a:buNone/>
            </a:pPr>
            <a:endParaRPr/>
          </a:p>
          <a:p>
            <a:pPr marL="0" lvl="0" indent="0" algn="l" rtl="0">
              <a:spcBef>
                <a:spcPts val="0"/>
              </a:spcBef>
              <a:spcAft>
                <a:spcPts val="0"/>
              </a:spcAft>
              <a:buNone/>
            </a:pPr>
            <a:r>
              <a:rPr lang="en"/>
              <a:t>So we trained different models using the features similar to our last research questions, and here our target variable is the membership status. The models we tested are logistic regression, KNN classifier, and decision tree random forest</a:t>
            </a:r>
            <a:endParaRPr/>
          </a:p>
          <a:p>
            <a:pPr marL="0" lvl="0" indent="0" algn="l" rtl="0">
              <a:spcBef>
                <a:spcPts val="0"/>
              </a:spcBef>
              <a:spcAft>
                <a:spcPts val="0"/>
              </a:spcAft>
              <a:buNone/>
            </a:pPr>
            <a:endParaRPr/>
          </a:p>
          <a:p>
            <a:pPr marL="0" lvl="0" indent="0" algn="l" rtl="0">
              <a:spcBef>
                <a:spcPts val="0"/>
              </a:spcBef>
              <a:spcAft>
                <a:spcPts val="0"/>
              </a:spcAft>
              <a:buNone/>
            </a:pPr>
            <a:r>
              <a:rPr lang="en"/>
              <a:t>While the groups could be summarize, this would come at the sacrifice of being able to identify other areas to market/profit. Especially when transpotation (bikes, scooters, etc.) in downtown Columbus is a competitive market. More members means more market share, which means stable and long lasting demand compared to more leisure riders only. Additionally identify potential advertisement areas to convert non-members to members.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88fd7c5147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88fd7c5147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Adrian: We used 3 metrics to capture the behavior of our fitted models</a:t>
            </a:r>
            <a:endParaRPr/>
          </a:p>
          <a:p>
            <a:pPr marL="0" lvl="0" indent="0" algn="l" rtl="0">
              <a:spcBef>
                <a:spcPts val="0"/>
              </a:spcBef>
              <a:spcAft>
                <a:spcPts val="0"/>
              </a:spcAft>
              <a:buNone/>
            </a:pPr>
            <a:endParaRPr/>
          </a:p>
          <a:p>
            <a:pPr marL="0" lvl="0" indent="0" algn="l" rtl="0">
              <a:spcBef>
                <a:spcPts val="0"/>
              </a:spcBef>
              <a:spcAft>
                <a:spcPts val="0"/>
              </a:spcAft>
              <a:buNone/>
            </a:pPr>
            <a:r>
              <a:rPr lang="en"/>
              <a:t>Accuracy = correct classifications</a:t>
            </a:r>
            <a:endParaRPr/>
          </a:p>
          <a:p>
            <a:pPr marL="0" lvl="0" indent="0" algn="l" rtl="0">
              <a:spcBef>
                <a:spcPts val="0"/>
              </a:spcBef>
              <a:spcAft>
                <a:spcPts val="0"/>
              </a:spcAft>
              <a:buNone/>
            </a:pPr>
            <a:r>
              <a:rPr lang="en"/>
              <a:t>Precision = how accurate the positive classifications are</a:t>
            </a:r>
            <a:endParaRPr/>
          </a:p>
          <a:p>
            <a:pPr marL="0" lvl="0" indent="0" algn="l" rtl="0">
              <a:spcBef>
                <a:spcPts val="0"/>
              </a:spcBef>
              <a:spcAft>
                <a:spcPts val="0"/>
              </a:spcAft>
              <a:buNone/>
            </a:pPr>
            <a:r>
              <a:rPr lang="en"/>
              <a:t>Recall = how accurate the true values are classified</a:t>
            </a:r>
            <a:endParaRPr/>
          </a:p>
          <a:p>
            <a:pPr marL="0" lvl="0" indent="0" algn="l" rtl="0">
              <a:spcBef>
                <a:spcPts val="0"/>
              </a:spcBef>
              <a:spcAft>
                <a:spcPts val="0"/>
              </a:spcAft>
              <a:buNone/>
            </a:pPr>
            <a:endParaRPr/>
          </a:p>
          <a:p>
            <a:pPr marL="0" lvl="0" indent="0" algn="l" rtl="0">
              <a:spcBef>
                <a:spcPts val="0"/>
              </a:spcBef>
              <a:spcAft>
                <a:spcPts val="0"/>
              </a:spcAft>
              <a:buNone/>
            </a:pPr>
            <a:r>
              <a:rPr lang="en"/>
              <a:t>This is at a default threshold of 50%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8ed8c4efe6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8ed8c4efe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Emma, additionally case studies are an area of opportunity to further improve.</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88fd7c5147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88fd7c5147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Adrian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c6f9e470d_0_4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c6f9e470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Shilp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222875"/>
            <a:ext cx="4255500" cy="2279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CoGo Bikeshare Data Analysis By </a:t>
            </a:r>
            <a:endParaRPr/>
          </a:p>
          <a:p>
            <a:pPr marL="0" lvl="0" indent="0" algn="l" rtl="0">
              <a:spcBef>
                <a:spcPts val="0"/>
              </a:spcBef>
              <a:spcAft>
                <a:spcPts val="0"/>
              </a:spcAft>
              <a:buNone/>
            </a:pPr>
            <a:r>
              <a:rPr lang="en" sz="2600" b="0">
                <a:latin typeface="Nunito"/>
                <a:ea typeface="Nunito"/>
                <a:cs typeface="Nunito"/>
                <a:sym typeface="Nunito"/>
              </a:rPr>
              <a:t>Data Py-oneers</a:t>
            </a:r>
            <a:endParaRPr sz="2600" b="0">
              <a:latin typeface="Nunito"/>
              <a:ea typeface="Nunito"/>
              <a:cs typeface="Nunito"/>
              <a:sym typeface="Nunito"/>
            </a:endParaRPr>
          </a:p>
          <a:p>
            <a:pPr marL="0" lvl="0" indent="0" algn="l" rtl="0">
              <a:spcBef>
                <a:spcPts val="0"/>
              </a:spcBef>
              <a:spcAft>
                <a:spcPts val="0"/>
              </a:spcAft>
              <a:buNone/>
            </a:pPr>
            <a:endParaRPr/>
          </a:p>
        </p:txBody>
      </p:sp>
      <p:sp>
        <p:nvSpPr>
          <p:cNvPr id="278" name="Google Shape;278;p13"/>
          <p:cNvSpPr txBox="1">
            <a:spLocks noGrp="1"/>
          </p:cNvSpPr>
          <p:nvPr>
            <p:ph type="subTitle" idx="1"/>
          </p:nvPr>
        </p:nvSpPr>
        <p:spPr>
          <a:xfrm>
            <a:off x="824000" y="3596300"/>
            <a:ext cx="4797000" cy="9504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1018"/>
              <a:buNone/>
            </a:pPr>
            <a:r>
              <a:rPr lang="en" sz="1779"/>
              <a:t>Adrian Tisbe (11845076), </a:t>
            </a:r>
            <a:endParaRPr sz="1779"/>
          </a:p>
          <a:p>
            <a:pPr marL="0" lvl="0" indent="0" algn="l" rtl="0">
              <a:lnSpc>
                <a:spcPct val="80000"/>
              </a:lnSpc>
              <a:spcBef>
                <a:spcPts val="0"/>
              </a:spcBef>
              <a:spcAft>
                <a:spcPts val="0"/>
              </a:spcAft>
              <a:buSzPts val="1018"/>
              <a:buNone/>
            </a:pPr>
            <a:r>
              <a:rPr lang="en" sz="1779"/>
              <a:t>Emma Allen (11935438), </a:t>
            </a:r>
            <a:endParaRPr sz="1779"/>
          </a:p>
          <a:p>
            <a:pPr marL="0" lvl="0" indent="0" algn="l" rtl="0">
              <a:lnSpc>
                <a:spcPct val="80000"/>
              </a:lnSpc>
              <a:spcBef>
                <a:spcPts val="0"/>
              </a:spcBef>
              <a:spcAft>
                <a:spcPts val="0"/>
              </a:spcAft>
              <a:buSzPts val="1018"/>
              <a:buNone/>
            </a:pPr>
            <a:r>
              <a:rPr lang="en" sz="1779"/>
              <a:t>Shilp Patel(11821563)</a:t>
            </a:r>
            <a:endParaRPr sz="1779"/>
          </a:p>
          <a:p>
            <a:pPr marL="0" lvl="0" indent="0" algn="l" rtl="0">
              <a:lnSpc>
                <a:spcPct val="80000"/>
              </a:lnSpc>
              <a:spcBef>
                <a:spcPts val="0"/>
              </a:spcBef>
              <a:spcAft>
                <a:spcPts val="0"/>
              </a:spcAft>
              <a:buSzPts val="1018"/>
              <a:buNone/>
            </a:pPr>
            <a:r>
              <a:rPr lang="en" sz="1779"/>
              <a:t>ADTA5340.400 - Fall 2025 8w1</a:t>
            </a:r>
            <a:endParaRPr sz="1779"/>
          </a:p>
        </p:txBody>
      </p:sp>
      <p:sp>
        <p:nvSpPr>
          <p:cNvPr id="279" name="Google Shape;279;p13"/>
          <p:cNvSpPr txBox="1"/>
          <p:nvPr/>
        </p:nvSpPr>
        <p:spPr>
          <a:xfrm>
            <a:off x="890600" y="2389650"/>
            <a:ext cx="4122300" cy="708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700">
                <a:solidFill>
                  <a:schemeClr val="dk2"/>
                </a:solidFill>
                <a:latin typeface="Nunito"/>
                <a:ea typeface="Nunito"/>
                <a:cs typeface="Nunito"/>
                <a:sym typeface="Nunito"/>
              </a:rPr>
              <a:t>Data-Driven Operations for efficiency and enhancing the Rider Experience</a:t>
            </a:r>
            <a:endParaRPr sz="1700">
              <a:solidFill>
                <a:schemeClr val="dk2"/>
              </a:solidFill>
              <a:latin typeface="Nunito"/>
              <a:ea typeface="Nunito"/>
              <a:cs typeface="Nunito"/>
              <a:sym typeface="Nunito"/>
            </a:endParaRPr>
          </a:p>
        </p:txBody>
      </p:sp>
      <p:sp>
        <p:nvSpPr>
          <p:cNvPr id="280" name="Google Shape;280;p13"/>
          <p:cNvSpPr txBox="1"/>
          <p:nvPr/>
        </p:nvSpPr>
        <p:spPr>
          <a:xfrm>
            <a:off x="4680575" y="2974650"/>
            <a:ext cx="4483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Nunito"/>
              <a:ea typeface="Nunito"/>
              <a:cs typeface="Nunito"/>
              <a:sym typeface="Nunito"/>
            </a:endParaRPr>
          </a:p>
        </p:txBody>
      </p:sp>
      <p:pic>
        <p:nvPicPr>
          <p:cNvPr id="281" name="Google Shape;281;p13"/>
          <p:cNvPicPr preferRelativeResize="0"/>
          <p:nvPr/>
        </p:nvPicPr>
        <p:blipFill>
          <a:blip r:embed="rId3">
            <a:alphaModFix/>
          </a:blip>
          <a:stretch>
            <a:fillRect/>
          </a:stretch>
        </p:blipFill>
        <p:spPr>
          <a:xfrm>
            <a:off x="5012900" y="2205575"/>
            <a:ext cx="3759701" cy="248133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85"/>
        <p:cNvGrpSpPr/>
        <p:nvPr/>
      </p:nvGrpSpPr>
      <p:grpSpPr>
        <a:xfrm>
          <a:off x="0" y="0"/>
          <a:ext cx="0" cy="0"/>
          <a:chOff x="0" y="0"/>
          <a:chExt cx="0" cy="0"/>
        </a:xfrm>
      </p:grpSpPr>
      <p:sp>
        <p:nvSpPr>
          <p:cNvPr id="286" name="Google Shape;286;p14"/>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2440"/>
              <a:t>Accurate predictions enable more efficient planning and resource allocation. While improving the customer experience.</a:t>
            </a:r>
            <a:endParaRPr sz="2440"/>
          </a:p>
        </p:txBody>
      </p:sp>
      <p:sp>
        <p:nvSpPr>
          <p:cNvPr id="287" name="Google Shape;287;p14"/>
          <p:cNvSpPr txBox="1"/>
          <p:nvPr/>
        </p:nvSpPr>
        <p:spPr>
          <a:xfrm>
            <a:off x="2141425" y="437650"/>
            <a:ext cx="7033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Nunito"/>
                <a:ea typeface="Nunito"/>
                <a:cs typeface="Nunito"/>
                <a:sym typeface="Nunito"/>
              </a:rPr>
              <a:t>WWWhy</a:t>
            </a:r>
            <a:endParaRPr sz="1300">
              <a:solidFill>
                <a:schemeClr val="dk2"/>
              </a:solidFill>
              <a:latin typeface="Nunito"/>
              <a:ea typeface="Nunito"/>
              <a:cs typeface="Nunito"/>
              <a:sym typeface="Nunito"/>
            </a:endParaRPr>
          </a:p>
        </p:txBody>
      </p:sp>
      <p:pic>
        <p:nvPicPr>
          <p:cNvPr id="288" name="Google Shape;288;p14" descr="Cyclist line and solid icon. Cycle exercise, sportsman and bike symbol, outline style pictogram on white background. Healthy lifestyle or sport sign for mobile concept and web design. Vector graphics. (Provided by Getty Images)"/>
          <p:cNvPicPr preferRelativeResize="0"/>
          <p:nvPr/>
        </p:nvPicPr>
        <p:blipFill rotWithShape="1">
          <a:blip r:embed="rId3">
            <a:alphaModFix/>
          </a:blip>
          <a:srcRect t="7111" b="8020"/>
          <a:stretch/>
        </p:blipFill>
        <p:spPr>
          <a:xfrm>
            <a:off x="5183375" y="882875"/>
            <a:ext cx="3726177" cy="3071724"/>
          </a:xfrm>
          <a:prstGeom prst="rect">
            <a:avLst/>
          </a:prstGeom>
          <a:noFill/>
          <a:ln>
            <a:noFill/>
          </a:ln>
        </p:spPr>
      </p:pic>
      <p:sp>
        <p:nvSpPr>
          <p:cNvPr id="289" name="Google Shape;289;p14"/>
          <p:cNvSpPr txBox="1">
            <a:spLocks noGrp="1"/>
          </p:cNvSpPr>
          <p:nvPr>
            <p:ph type="title" idx="4294967295"/>
          </p:nvPr>
        </p:nvSpPr>
        <p:spPr>
          <a:xfrm>
            <a:off x="824000" y="292150"/>
            <a:ext cx="45651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620">
                <a:solidFill>
                  <a:schemeClr val="lt1"/>
                </a:solidFill>
              </a:rPr>
              <a:t>Value Statement</a:t>
            </a:r>
            <a:endParaRPr sz="362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5"/>
          <p:cNvSpPr txBox="1">
            <a:spLocks noGrp="1"/>
          </p:cNvSpPr>
          <p:nvPr>
            <p:ph type="title"/>
          </p:nvPr>
        </p:nvSpPr>
        <p:spPr>
          <a:xfrm>
            <a:off x="1283608" y="635700"/>
            <a:ext cx="3430500" cy="530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Problems of Interest</a:t>
            </a:r>
            <a:endParaRPr/>
          </a:p>
        </p:txBody>
      </p:sp>
      <p:sp>
        <p:nvSpPr>
          <p:cNvPr id="295" name="Google Shape;295;p15"/>
          <p:cNvSpPr txBox="1">
            <a:spLocks noGrp="1"/>
          </p:cNvSpPr>
          <p:nvPr>
            <p:ph type="subTitle" idx="1"/>
          </p:nvPr>
        </p:nvSpPr>
        <p:spPr>
          <a:xfrm>
            <a:off x="1241275" y="1176672"/>
            <a:ext cx="7256400" cy="3697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1018"/>
              <a:buNone/>
            </a:pPr>
            <a:r>
              <a:rPr lang="en" sz="1580" dirty="0"/>
              <a:t>The city of Columbus, OH is interested in identifying contributing factors and predicting usage factors for their bikeshare program, CoGo.</a:t>
            </a:r>
            <a:endParaRPr sz="1580" dirty="0"/>
          </a:p>
          <a:p>
            <a:pPr marL="0" lvl="0" indent="0" algn="l" rtl="0">
              <a:lnSpc>
                <a:spcPct val="80000"/>
              </a:lnSpc>
              <a:spcBef>
                <a:spcPts val="0"/>
              </a:spcBef>
              <a:spcAft>
                <a:spcPts val="0"/>
              </a:spcAft>
              <a:buSzPts val="1018"/>
              <a:buNone/>
            </a:pPr>
            <a:endParaRPr sz="1580" dirty="0"/>
          </a:p>
          <a:p>
            <a:pPr marL="457200" lvl="0" indent="-328930" algn="l" rtl="0">
              <a:lnSpc>
                <a:spcPct val="80000"/>
              </a:lnSpc>
              <a:spcBef>
                <a:spcPts val="0"/>
              </a:spcBef>
              <a:spcAft>
                <a:spcPts val="0"/>
              </a:spcAft>
              <a:buSzPts val="1580"/>
              <a:buAutoNum type="arabicPeriod"/>
            </a:pPr>
            <a:r>
              <a:rPr lang="en" sz="1580" dirty="0"/>
              <a:t>How is the number of rides taken in a day impacted by relevant factors (weather, day of the week, region of the city) and can we predict an expected number of rides taken for a given day?</a:t>
            </a:r>
            <a:endParaRPr sz="1580" dirty="0"/>
          </a:p>
          <a:p>
            <a:pPr marL="914400" lvl="1" indent="-328930" algn="l" rtl="0">
              <a:lnSpc>
                <a:spcPct val="80000"/>
              </a:lnSpc>
              <a:spcBef>
                <a:spcPts val="0"/>
              </a:spcBef>
              <a:spcAft>
                <a:spcPts val="0"/>
              </a:spcAft>
              <a:buSzPts val="1580"/>
              <a:buAutoNum type="alphaLcPeriod"/>
            </a:pPr>
            <a:r>
              <a:rPr lang="en" sz="1580" dirty="0"/>
              <a:t>Value: Helps business to monitor feature impact and plan for potential usage surges to optimize usage or potential pricing strategy opportunity.</a:t>
            </a:r>
            <a:endParaRPr sz="1580" dirty="0"/>
          </a:p>
          <a:p>
            <a:pPr marL="128270" lvl="0" indent="0" algn="l" rtl="0">
              <a:lnSpc>
                <a:spcPct val="80000"/>
              </a:lnSpc>
              <a:spcBef>
                <a:spcPts val="0"/>
              </a:spcBef>
              <a:spcAft>
                <a:spcPts val="0"/>
              </a:spcAft>
              <a:buSzPts val="1580"/>
            </a:pPr>
            <a:endParaRPr lang="en" sz="1580" dirty="0"/>
          </a:p>
          <a:p>
            <a:pPr marL="128270" lvl="0" indent="0" algn="l" rtl="0">
              <a:lnSpc>
                <a:spcPct val="80000"/>
              </a:lnSpc>
              <a:spcBef>
                <a:spcPts val="0"/>
              </a:spcBef>
              <a:spcAft>
                <a:spcPts val="0"/>
              </a:spcAft>
              <a:buSzPts val="1580"/>
            </a:pPr>
            <a:r>
              <a:rPr lang="en" sz="1580" dirty="0"/>
              <a:t>2.    How is trip duration impacted by relevant factors (region of the city the trip originates from, day of the week, if the rider is a member) and can we predict expected trip duration?</a:t>
            </a:r>
            <a:endParaRPr sz="1580" dirty="0"/>
          </a:p>
          <a:p>
            <a:pPr marL="914400" lvl="1" indent="-328930" algn="l" rtl="0">
              <a:lnSpc>
                <a:spcPct val="80000"/>
              </a:lnSpc>
              <a:spcBef>
                <a:spcPts val="0"/>
              </a:spcBef>
              <a:spcAft>
                <a:spcPts val="0"/>
              </a:spcAft>
              <a:buSzPts val="1580"/>
              <a:buAutoNum type="alphaLcPeriod"/>
            </a:pPr>
            <a:r>
              <a:rPr lang="en" sz="1580" dirty="0"/>
              <a:t>Value: Allows business to get ahead of maintenance impacts or requirements that would be masked by simple summary statistics.</a:t>
            </a:r>
            <a:endParaRPr sz="1580" dirty="0"/>
          </a:p>
          <a:p>
            <a:pPr marL="457200" lvl="0" indent="0" algn="l" rtl="0">
              <a:lnSpc>
                <a:spcPct val="80000"/>
              </a:lnSpc>
              <a:spcBef>
                <a:spcPts val="0"/>
              </a:spcBef>
              <a:spcAft>
                <a:spcPts val="0"/>
              </a:spcAft>
              <a:buSzPts val="1018"/>
              <a:buNone/>
            </a:pPr>
            <a:endParaRPr sz="1580" dirty="0"/>
          </a:p>
          <a:p>
            <a:pPr marL="128270" lvl="0" indent="0" algn="l" rtl="0">
              <a:lnSpc>
                <a:spcPct val="80000"/>
              </a:lnSpc>
              <a:spcBef>
                <a:spcPts val="0"/>
              </a:spcBef>
              <a:spcAft>
                <a:spcPts val="0"/>
              </a:spcAft>
              <a:buSzPts val="1580"/>
            </a:pPr>
            <a:r>
              <a:rPr lang="en" sz="1580" dirty="0"/>
              <a:t>3.    Can we identify impact of features (region, weather, ride duration, bike type) on rides taken by members vs leisure riders. </a:t>
            </a:r>
            <a:endParaRPr sz="1580" dirty="0"/>
          </a:p>
          <a:p>
            <a:pPr marL="914400" lvl="1" indent="-328930" algn="l" rtl="0">
              <a:lnSpc>
                <a:spcPct val="80000"/>
              </a:lnSpc>
              <a:spcBef>
                <a:spcPts val="0"/>
              </a:spcBef>
              <a:spcAft>
                <a:spcPts val="0"/>
              </a:spcAft>
              <a:buSzPts val="1580"/>
              <a:buAutoNum type="alphaLcPeriod"/>
            </a:pPr>
            <a:r>
              <a:rPr lang="en" sz="1580" dirty="0"/>
              <a:t>Value: Allows business to market memberships in most valuable areas (areas/ride characteristics of non-members).</a:t>
            </a:r>
            <a:endParaRPr sz="15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16"/>
          <p:cNvSpPr txBox="1">
            <a:spLocks noGrp="1"/>
          </p:cNvSpPr>
          <p:nvPr>
            <p:ph type="title"/>
          </p:nvPr>
        </p:nvSpPr>
        <p:spPr>
          <a:xfrm>
            <a:off x="1272867" y="632825"/>
            <a:ext cx="5331300" cy="72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Available Data</a:t>
            </a:r>
            <a:endParaRPr/>
          </a:p>
        </p:txBody>
      </p:sp>
      <p:graphicFrame>
        <p:nvGraphicFramePr>
          <p:cNvPr id="301" name="Google Shape;301;p16"/>
          <p:cNvGraphicFramePr/>
          <p:nvPr/>
        </p:nvGraphicFramePr>
        <p:xfrm>
          <a:off x="1219950" y="1231825"/>
          <a:ext cx="7399500" cy="3900940"/>
        </p:xfrm>
        <a:graphic>
          <a:graphicData uri="http://schemas.openxmlformats.org/drawingml/2006/table">
            <a:tbl>
              <a:tblPr>
                <a:noFill/>
                <a:tableStyleId>{31CFE100-5331-4432-B5D4-83C2F04BC905}</a:tableStyleId>
              </a:tblPr>
              <a:tblGrid>
                <a:gridCol w="2158950">
                  <a:extLst>
                    <a:ext uri="{9D8B030D-6E8A-4147-A177-3AD203B41FA5}">
                      <a16:colId xmlns:a16="http://schemas.microsoft.com/office/drawing/2014/main" val="20000"/>
                    </a:ext>
                  </a:extLst>
                </a:gridCol>
                <a:gridCol w="2774050">
                  <a:extLst>
                    <a:ext uri="{9D8B030D-6E8A-4147-A177-3AD203B41FA5}">
                      <a16:colId xmlns:a16="http://schemas.microsoft.com/office/drawing/2014/main" val="20001"/>
                    </a:ext>
                  </a:extLst>
                </a:gridCol>
                <a:gridCol w="2466500">
                  <a:extLst>
                    <a:ext uri="{9D8B030D-6E8A-4147-A177-3AD203B41FA5}">
                      <a16:colId xmlns:a16="http://schemas.microsoft.com/office/drawing/2014/main" val="20002"/>
                    </a:ext>
                  </a:extLst>
                </a:gridCol>
              </a:tblGrid>
              <a:tr h="337825">
                <a:tc>
                  <a:txBody>
                    <a:bodyPr/>
                    <a:lstStyle/>
                    <a:p>
                      <a:pPr marL="0" lvl="0" indent="0" algn="ctr" rtl="0">
                        <a:spcBef>
                          <a:spcPts val="0"/>
                        </a:spcBef>
                        <a:spcAft>
                          <a:spcPts val="0"/>
                        </a:spcAft>
                        <a:buNone/>
                      </a:pPr>
                      <a:r>
                        <a:rPr lang="en" b="1" u="sng"/>
                        <a:t>Reference</a:t>
                      </a:r>
                      <a:endParaRPr b="1" u="sng"/>
                    </a:p>
                  </a:txBody>
                  <a:tcPr marL="91425" marR="91425" marT="91425" marB="91425"/>
                </a:tc>
                <a:tc>
                  <a:txBody>
                    <a:bodyPr/>
                    <a:lstStyle/>
                    <a:p>
                      <a:pPr marL="0" lvl="0" indent="0" algn="ctr" rtl="0">
                        <a:spcBef>
                          <a:spcPts val="0"/>
                        </a:spcBef>
                        <a:spcAft>
                          <a:spcPts val="0"/>
                        </a:spcAft>
                        <a:buNone/>
                      </a:pPr>
                      <a:r>
                        <a:rPr lang="en" b="1" u="sng"/>
                        <a:t>Bike Trips</a:t>
                      </a:r>
                      <a:endParaRPr b="1" u="sng"/>
                    </a:p>
                  </a:txBody>
                  <a:tcPr marL="91425" marR="91425" marT="91425" marB="91425"/>
                </a:tc>
                <a:tc>
                  <a:txBody>
                    <a:bodyPr/>
                    <a:lstStyle/>
                    <a:p>
                      <a:pPr marL="0" lvl="0" indent="0" algn="ctr" rtl="0">
                        <a:spcBef>
                          <a:spcPts val="0"/>
                        </a:spcBef>
                        <a:spcAft>
                          <a:spcPts val="0"/>
                        </a:spcAft>
                        <a:buNone/>
                      </a:pPr>
                      <a:r>
                        <a:rPr lang="en" b="1" u="sng"/>
                        <a:t>Weather</a:t>
                      </a:r>
                      <a:endParaRPr b="1" u="sng"/>
                    </a:p>
                  </a:txBody>
                  <a:tcPr marL="91425" marR="91425" marT="91425" marB="91425"/>
                </a:tc>
                <a:extLst>
                  <a:ext uri="{0D108BD9-81ED-4DB2-BD59-A6C34878D82A}">
                    <a16:rowId xmlns:a16="http://schemas.microsoft.com/office/drawing/2014/main" val="10000"/>
                  </a:ext>
                </a:extLst>
              </a:tr>
              <a:tr h="337825">
                <a:tc>
                  <a:txBody>
                    <a:bodyPr/>
                    <a:lstStyle/>
                    <a:p>
                      <a:pPr marL="0" lvl="0" indent="0" algn="l" rtl="0">
                        <a:spcBef>
                          <a:spcPts val="0"/>
                        </a:spcBef>
                        <a:spcAft>
                          <a:spcPts val="0"/>
                        </a:spcAft>
                        <a:buNone/>
                      </a:pPr>
                      <a:r>
                        <a:rPr lang="en"/>
                        <a:t>Source</a:t>
                      </a:r>
                      <a:endParaRPr sz="1300"/>
                    </a:p>
                  </a:txBody>
                  <a:tcPr marL="91425" marR="91425" marT="91425" marB="91425"/>
                </a:tc>
                <a:tc>
                  <a:txBody>
                    <a:bodyPr/>
                    <a:lstStyle/>
                    <a:p>
                      <a:pPr marL="0" lvl="0" indent="0" algn="l" rtl="0">
                        <a:spcBef>
                          <a:spcPts val="0"/>
                        </a:spcBef>
                        <a:spcAft>
                          <a:spcPts val="0"/>
                        </a:spcAft>
                        <a:buNone/>
                      </a:pPr>
                      <a:r>
                        <a:rPr lang="en"/>
                        <a:t>CoGo</a:t>
                      </a:r>
                      <a:endParaRPr/>
                    </a:p>
                  </a:txBody>
                  <a:tcPr marL="91425" marR="91425" marT="91425" marB="91425"/>
                </a:tc>
                <a:tc>
                  <a:txBody>
                    <a:bodyPr/>
                    <a:lstStyle/>
                    <a:p>
                      <a:pPr marL="0" lvl="0" indent="0" algn="l" rtl="0">
                        <a:spcBef>
                          <a:spcPts val="0"/>
                        </a:spcBef>
                        <a:spcAft>
                          <a:spcPts val="0"/>
                        </a:spcAft>
                        <a:buNone/>
                      </a:pPr>
                      <a:r>
                        <a:rPr lang="en"/>
                        <a:t>NOAA</a:t>
                      </a:r>
                      <a:endParaRPr/>
                    </a:p>
                  </a:txBody>
                  <a:tcPr marL="91425" marR="91425" marT="91425" marB="91425"/>
                </a:tc>
                <a:extLst>
                  <a:ext uri="{0D108BD9-81ED-4DB2-BD59-A6C34878D82A}">
                    <a16:rowId xmlns:a16="http://schemas.microsoft.com/office/drawing/2014/main" val="10001"/>
                  </a:ext>
                </a:extLst>
              </a:tr>
              <a:tr h="337825">
                <a:tc>
                  <a:txBody>
                    <a:bodyPr/>
                    <a:lstStyle/>
                    <a:p>
                      <a:pPr marL="0" lvl="0" indent="0" algn="l" rtl="0">
                        <a:spcBef>
                          <a:spcPts val="0"/>
                        </a:spcBef>
                        <a:spcAft>
                          <a:spcPts val="0"/>
                        </a:spcAft>
                        <a:buNone/>
                      </a:pPr>
                      <a:r>
                        <a:rPr lang="en"/>
                        <a:t>Granularity</a:t>
                      </a:r>
                      <a:endParaRPr/>
                    </a:p>
                  </a:txBody>
                  <a:tcPr marL="91425" marR="91425" marT="91425" marB="91425"/>
                </a:tc>
                <a:tc>
                  <a:txBody>
                    <a:bodyPr/>
                    <a:lstStyle/>
                    <a:p>
                      <a:pPr marL="0" lvl="0" indent="0" algn="l" rtl="0">
                        <a:spcBef>
                          <a:spcPts val="0"/>
                        </a:spcBef>
                        <a:spcAft>
                          <a:spcPts val="0"/>
                        </a:spcAft>
                        <a:buNone/>
                      </a:pPr>
                      <a:r>
                        <a:rPr lang="en"/>
                        <a:t>Each ride</a:t>
                      </a:r>
                      <a:endParaRPr/>
                    </a:p>
                  </a:txBody>
                  <a:tcPr marL="91425" marR="91425" marT="91425" marB="91425"/>
                </a:tc>
                <a:tc>
                  <a:txBody>
                    <a:bodyPr/>
                    <a:lstStyle/>
                    <a:p>
                      <a:pPr marL="0" lvl="0" indent="0" algn="l" rtl="0">
                        <a:spcBef>
                          <a:spcPts val="0"/>
                        </a:spcBef>
                        <a:spcAft>
                          <a:spcPts val="0"/>
                        </a:spcAft>
                        <a:buNone/>
                      </a:pPr>
                      <a:r>
                        <a:rPr lang="en"/>
                        <a:t>Daily</a:t>
                      </a:r>
                      <a:endParaRPr/>
                    </a:p>
                  </a:txBody>
                  <a:tcPr marL="91425" marR="91425" marT="91425" marB="91425"/>
                </a:tc>
                <a:extLst>
                  <a:ext uri="{0D108BD9-81ED-4DB2-BD59-A6C34878D82A}">
                    <a16:rowId xmlns:a16="http://schemas.microsoft.com/office/drawing/2014/main" val="10002"/>
                  </a:ext>
                </a:extLst>
              </a:tr>
              <a:tr h="337825">
                <a:tc>
                  <a:txBody>
                    <a:bodyPr/>
                    <a:lstStyle/>
                    <a:p>
                      <a:pPr marL="0" lvl="0" indent="0" algn="l" rtl="0">
                        <a:spcBef>
                          <a:spcPts val="0"/>
                        </a:spcBef>
                        <a:spcAft>
                          <a:spcPts val="0"/>
                        </a:spcAft>
                        <a:buNone/>
                      </a:pPr>
                      <a:r>
                        <a:rPr lang="en"/>
                        <a:t>Time Frame</a:t>
                      </a:r>
                      <a:endParaRPr/>
                    </a:p>
                  </a:txBody>
                  <a:tcPr marL="91425" marR="91425" marT="91425" marB="91425"/>
                </a:tc>
                <a:tc>
                  <a:txBody>
                    <a:bodyPr/>
                    <a:lstStyle/>
                    <a:p>
                      <a:pPr marL="0" lvl="0" indent="0" algn="l" rtl="0">
                        <a:spcBef>
                          <a:spcPts val="0"/>
                        </a:spcBef>
                        <a:spcAft>
                          <a:spcPts val="0"/>
                        </a:spcAft>
                        <a:buNone/>
                      </a:pPr>
                      <a:r>
                        <a:rPr lang="en"/>
                        <a:t>2022-2024, inclusive</a:t>
                      </a:r>
                      <a:endParaRPr/>
                    </a:p>
                  </a:txBody>
                  <a:tcPr marL="91425" marR="91425" marT="91425" marB="91425"/>
                </a:tc>
                <a:tc>
                  <a:txBody>
                    <a:bodyPr/>
                    <a:lstStyle/>
                    <a:p>
                      <a:pPr marL="0" lvl="0" indent="0" algn="l" rtl="0">
                        <a:spcBef>
                          <a:spcPts val="0"/>
                        </a:spcBef>
                        <a:spcAft>
                          <a:spcPts val="0"/>
                        </a:spcAft>
                        <a:buNone/>
                      </a:pPr>
                      <a:r>
                        <a:rPr lang="en"/>
                        <a:t>2018-2025</a:t>
                      </a:r>
                      <a:endParaRPr/>
                    </a:p>
                  </a:txBody>
                  <a:tcPr marL="91425" marR="91425" marT="91425" marB="91425"/>
                </a:tc>
                <a:extLst>
                  <a:ext uri="{0D108BD9-81ED-4DB2-BD59-A6C34878D82A}">
                    <a16:rowId xmlns:a16="http://schemas.microsoft.com/office/drawing/2014/main" val="10003"/>
                  </a:ext>
                </a:extLst>
              </a:tr>
              <a:tr h="883600">
                <a:tc>
                  <a:txBody>
                    <a:bodyPr/>
                    <a:lstStyle/>
                    <a:p>
                      <a:pPr marL="0" lvl="0" indent="0" algn="l" rtl="0">
                        <a:spcBef>
                          <a:spcPts val="0"/>
                        </a:spcBef>
                        <a:spcAft>
                          <a:spcPts val="0"/>
                        </a:spcAft>
                        <a:buNone/>
                      </a:pPr>
                      <a:r>
                        <a:rPr lang="en"/>
                        <a:t>String/Character Columns</a:t>
                      </a:r>
                      <a:endParaRPr/>
                    </a:p>
                  </a:txBody>
                  <a:tcPr marL="91425" marR="91425" marT="91425" marB="91425"/>
                </a:tc>
                <a:tc>
                  <a:txBody>
                    <a:bodyPr/>
                    <a:lstStyle/>
                    <a:p>
                      <a:pPr marL="0" lvl="0" indent="0" algn="l" rtl="0">
                        <a:spcBef>
                          <a:spcPts val="0"/>
                        </a:spcBef>
                        <a:spcAft>
                          <a:spcPts val="0"/>
                        </a:spcAft>
                        <a:buNone/>
                      </a:pPr>
                      <a:r>
                        <a:rPr lang="en"/>
                        <a:t>ride_id (unique)</a:t>
                      </a:r>
                      <a:endParaRPr/>
                    </a:p>
                    <a:p>
                      <a:pPr marL="0" lvl="0" indent="0" algn="l" rtl="0">
                        <a:spcBef>
                          <a:spcPts val="0"/>
                        </a:spcBef>
                        <a:spcAft>
                          <a:spcPts val="0"/>
                        </a:spcAft>
                        <a:buNone/>
                      </a:pPr>
                      <a:r>
                        <a:rPr lang="en"/>
                        <a:t>rideable_type (type of bike)</a:t>
                      </a:r>
                      <a:endParaRPr/>
                    </a:p>
                    <a:p>
                      <a:pPr marL="0" lvl="0" indent="0" algn="l" rtl="0">
                        <a:spcBef>
                          <a:spcPts val="0"/>
                        </a:spcBef>
                        <a:spcAft>
                          <a:spcPts val="0"/>
                        </a:spcAft>
                        <a:buNone/>
                      </a:pPr>
                      <a:r>
                        <a:rPr lang="en"/>
                        <a:t>start_station_name</a:t>
                      </a:r>
                      <a:endParaRPr/>
                    </a:p>
                    <a:p>
                      <a:pPr marL="0" lvl="0" indent="0" algn="l" rtl="0">
                        <a:spcBef>
                          <a:spcPts val="0"/>
                        </a:spcBef>
                        <a:spcAft>
                          <a:spcPts val="0"/>
                        </a:spcAft>
                        <a:buNone/>
                      </a:pPr>
                      <a:r>
                        <a:rPr lang="en"/>
                        <a:t>end_station_name</a:t>
                      </a:r>
                      <a:endParaRPr/>
                    </a:p>
                  </a:txBody>
                  <a:tcPr marL="91425" marR="91425" marT="91425" marB="91425"/>
                </a:tc>
                <a:tc>
                  <a:txBody>
                    <a:bodyPr/>
                    <a:lstStyle/>
                    <a:p>
                      <a:pPr marL="0" lvl="0" indent="0" algn="l" rtl="0">
                        <a:spcBef>
                          <a:spcPts val="0"/>
                        </a:spcBef>
                        <a:spcAft>
                          <a:spcPts val="0"/>
                        </a:spcAft>
                        <a:buNone/>
                      </a:pPr>
                      <a:r>
                        <a:rPr lang="en"/>
                        <a:t>STATION</a:t>
                      </a:r>
                      <a:endParaRPr/>
                    </a:p>
                  </a:txBody>
                  <a:tcPr marL="91425" marR="91425" marT="91425" marB="91425"/>
                </a:tc>
                <a:extLst>
                  <a:ext uri="{0D108BD9-81ED-4DB2-BD59-A6C34878D82A}">
                    <a16:rowId xmlns:a16="http://schemas.microsoft.com/office/drawing/2014/main" val="10004"/>
                  </a:ext>
                </a:extLst>
              </a:tr>
              <a:tr h="883600">
                <a:tc>
                  <a:txBody>
                    <a:bodyPr/>
                    <a:lstStyle/>
                    <a:p>
                      <a:pPr marL="0" lvl="0" indent="0" algn="l" rtl="0">
                        <a:spcBef>
                          <a:spcPts val="0"/>
                        </a:spcBef>
                        <a:spcAft>
                          <a:spcPts val="0"/>
                        </a:spcAft>
                        <a:buNone/>
                      </a:pPr>
                      <a:r>
                        <a:rPr lang="en"/>
                        <a:t>Numeric/Float Columns</a:t>
                      </a:r>
                      <a:endParaRPr/>
                    </a:p>
                  </a:txBody>
                  <a:tcPr marL="91425" marR="91425" marT="91425" marB="91425"/>
                </a:tc>
                <a:tc>
                  <a:txBody>
                    <a:bodyPr/>
                    <a:lstStyle/>
                    <a:p>
                      <a:pPr marL="0" lvl="0" indent="0" algn="l" rtl="0">
                        <a:spcBef>
                          <a:spcPts val="0"/>
                        </a:spcBef>
                        <a:spcAft>
                          <a:spcPts val="0"/>
                        </a:spcAft>
                        <a:buNone/>
                      </a:pPr>
                      <a:r>
                        <a:rPr lang="en"/>
                        <a:t>start_station_id, end_station_id</a:t>
                      </a:r>
                      <a:endParaRPr/>
                    </a:p>
                    <a:p>
                      <a:pPr marL="0" lvl="0" indent="0" algn="l" rtl="0">
                        <a:spcBef>
                          <a:spcPts val="0"/>
                        </a:spcBef>
                        <a:spcAft>
                          <a:spcPts val="0"/>
                        </a:spcAft>
                        <a:buNone/>
                      </a:pPr>
                      <a:r>
                        <a:rPr lang="en"/>
                        <a:t>start_lat, start_lng</a:t>
                      </a:r>
                      <a:endParaRPr/>
                    </a:p>
                    <a:p>
                      <a:pPr marL="0" lvl="0" indent="0" algn="l" rtl="0">
                        <a:spcBef>
                          <a:spcPts val="0"/>
                        </a:spcBef>
                        <a:spcAft>
                          <a:spcPts val="0"/>
                        </a:spcAft>
                        <a:buNone/>
                      </a:pPr>
                      <a:r>
                        <a:rPr lang="en"/>
                        <a:t>end_lat, end_lng</a:t>
                      </a:r>
                      <a:endParaRPr/>
                    </a:p>
                  </a:txBody>
                  <a:tcPr marL="91425" marR="91425" marT="91425" marB="91425"/>
                </a:tc>
                <a:tc>
                  <a:txBody>
                    <a:bodyPr/>
                    <a:lstStyle/>
                    <a:p>
                      <a:pPr marL="0" lvl="0" indent="0" algn="l" rtl="0">
                        <a:spcBef>
                          <a:spcPts val="0"/>
                        </a:spcBef>
                        <a:spcAft>
                          <a:spcPts val="0"/>
                        </a:spcAft>
                        <a:buNone/>
                      </a:pPr>
                      <a:r>
                        <a:rPr lang="en"/>
                        <a:t>TAVG, TMIN, TMAX (all F)</a:t>
                      </a:r>
                      <a:endParaRPr/>
                    </a:p>
                    <a:p>
                      <a:pPr marL="0" lvl="0" indent="0" algn="l" rtl="0">
                        <a:spcBef>
                          <a:spcPts val="0"/>
                        </a:spcBef>
                        <a:spcAft>
                          <a:spcPts val="0"/>
                        </a:spcAft>
                        <a:buNone/>
                      </a:pPr>
                      <a:r>
                        <a:rPr lang="en"/>
                        <a:t>PRCP (inches)</a:t>
                      </a:r>
                      <a:endParaRPr/>
                    </a:p>
                    <a:p>
                      <a:pPr marL="0" lvl="0" indent="0" algn="l" rtl="0">
                        <a:spcBef>
                          <a:spcPts val="0"/>
                        </a:spcBef>
                        <a:spcAft>
                          <a:spcPts val="0"/>
                        </a:spcAft>
                        <a:buNone/>
                      </a:pPr>
                      <a:r>
                        <a:rPr lang="en"/>
                        <a:t>SNOW (inches)</a:t>
                      </a:r>
                      <a:endParaRPr/>
                    </a:p>
                  </a:txBody>
                  <a:tcPr marL="91425" marR="91425" marT="91425" marB="91425"/>
                </a:tc>
                <a:extLst>
                  <a:ext uri="{0D108BD9-81ED-4DB2-BD59-A6C34878D82A}">
                    <a16:rowId xmlns:a16="http://schemas.microsoft.com/office/drawing/2014/main" val="10005"/>
                  </a:ext>
                </a:extLst>
              </a:tr>
              <a:tr h="337825">
                <a:tc>
                  <a:txBody>
                    <a:bodyPr/>
                    <a:lstStyle/>
                    <a:p>
                      <a:pPr marL="0" lvl="0" indent="0" algn="l" rtl="0">
                        <a:spcBef>
                          <a:spcPts val="0"/>
                        </a:spcBef>
                        <a:spcAft>
                          <a:spcPts val="0"/>
                        </a:spcAft>
                        <a:buNone/>
                      </a:pPr>
                      <a:r>
                        <a:rPr lang="en"/>
                        <a:t>Date Time</a:t>
                      </a:r>
                      <a:endParaRPr/>
                    </a:p>
                  </a:txBody>
                  <a:tcPr marL="91425" marR="91425" marT="91425" marB="91425"/>
                </a:tc>
                <a:tc>
                  <a:txBody>
                    <a:bodyPr/>
                    <a:lstStyle/>
                    <a:p>
                      <a:pPr marL="0" lvl="0" indent="0" algn="l" rtl="0">
                        <a:spcBef>
                          <a:spcPts val="0"/>
                        </a:spcBef>
                        <a:spcAft>
                          <a:spcPts val="0"/>
                        </a:spcAft>
                        <a:buNone/>
                      </a:pPr>
                      <a:r>
                        <a:rPr lang="en"/>
                        <a:t>started_at, ended_at</a:t>
                      </a:r>
                      <a:endParaRPr/>
                    </a:p>
                  </a:txBody>
                  <a:tcPr marL="91425" marR="91425" marT="91425" marB="91425"/>
                </a:tc>
                <a:tc>
                  <a:txBody>
                    <a:bodyPr/>
                    <a:lstStyle/>
                    <a:p>
                      <a:pPr marL="0" lvl="0" indent="0" algn="l" rtl="0">
                        <a:spcBef>
                          <a:spcPts val="0"/>
                        </a:spcBef>
                        <a:spcAft>
                          <a:spcPts val="0"/>
                        </a:spcAft>
                        <a:buNone/>
                      </a:pPr>
                      <a:r>
                        <a:rPr lang="en"/>
                        <a:t>DATE</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286079" y="6112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Methodology </a:t>
            </a:r>
            <a:endParaRPr/>
          </a:p>
        </p:txBody>
      </p:sp>
      <p:sp>
        <p:nvSpPr>
          <p:cNvPr id="307" name="Google Shape;307;p17"/>
          <p:cNvSpPr/>
          <p:nvPr/>
        </p:nvSpPr>
        <p:spPr>
          <a:xfrm>
            <a:off x="425213" y="1508075"/>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08" name="Google Shape;308;p17"/>
          <p:cNvSpPr txBox="1">
            <a:spLocks noGrp="1"/>
          </p:cNvSpPr>
          <p:nvPr>
            <p:ph type="body" idx="4294967295"/>
          </p:nvPr>
        </p:nvSpPr>
        <p:spPr>
          <a:xfrm>
            <a:off x="425213" y="16547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800">
                <a:solidFill>
                  <a:schemeClr val="lt1"/>
                </a:solidFill>
              </a:rPr>
              <a:t>Data Preparation</a:t>
            </a:r>
            <a:endParaRPr sz="1800">
              <a:solidFill>
                <a:schemeClr val="lt1"/>
              </a:solidFill>
            </a:endParaRPr>
          </a:p>
        </p:txBody>
      </p:sp>
      <p:sp>
        <p:nvSpPr>
          <p:cNvPr id="309" name="Google Shape;309;p17"/>
          <p:cNvSpPr txBox="1">
            <a:spLocks noGrp="1"/>
          </p:cNvSpPr>
          <p:nvPr>
            <p:ph type="body" idx="4294967295"/>
          </p:nvPr>
        </p:nvSpPr>
        <p:spPr>
          <a:xfrm>
            <a:off x="425213" y="22737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800"/>
              </a:spcAft>
              <a:buNone/>
            </a:pPr>
            <a:r>
              <a:rPr lang="en" sz="1600" b="1"/>
              <a:t>We cleaned the data and merged in weather data, and then engineered new features for employment in models. </a:t>
            </a:r>
            <a:endParaRPr sz="1600"/>
          </a:p>
        </p:txBody>
      </p:sp>
      <p:sp>
        <p:nvSpPr>
          <p:cNvPr id="310" name="Google Shape;310;p17"/>
          <p:cNvSpPr/>
          <p:nvPr/>
        </p:nvSpPr>
        <p:spPr>
          <a:xfrm>
            <a:off x="3037639" y="15080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11" name="Google Shape;311;p17"/>
          <p:cNvSpPr txBox="1">
            <a:spLocks noGrp="1"/>
          </p:cNvSpPr>
          <p:nvPr>
            <p:ph type="body" idx="4294967295"/>
          </p:nvPr>
        </p:nvSpPr>
        <p:spPr>
          <a:xfrm>
            <a:off x="3329013" y="16547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800">
                <a:solidFill>
                  <a:schemeClr val="lt1"/>
                </a:solidFill>
              </a:rPr>
              <a:t>Predictive Modeling </a:t>
            </a:r>
            <a:endParaRPr sz="1800">
              <a:solidFill>
                <a:schemeClr val="lt1"/>
              </a:solidFill>
            </a:endParaRPr>
          </a:p>
        </p:txBody>
      </p:sp>
      <p:sp>
        <p:nvSpPr>
          <p:cNvPr id="312" name="Google Shape;312;p17"/>
          <p:cNvSpPr txBox="1">
            <a:spLocks noGrp="1"/>
          </p:cNvSpPr>
          <p:nvPr>
            <p:ph type="body" idx="4294967295"/>
          </p:nvPr>
        </p:nvSpPr>
        <p:spPr>
          <a:xfrm>
            <a:off x="3329009" y="22737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800"/>
              </a:spcAft>
              <a:buNone/>
            </a:pPr>
            <a:r>
              <a:rPr lang="en" sz="1600" b="1"/>
              <a:t>We built and tested several machine learning models to find to the strongest and most accurate predictors for our research questions. </a:t>
            </a:r>
            <a:endParaRPr sz="1600" b="1"/>
          </a:p>
        </p:txBody>
      </p:sp>
      <p:sp>
        <p:nvSpPr>
          <p:cNvPr id="313" name="Google Shape;313;p17"/>
          <p:cNvSpPr/>
          <p:nvPr/>
        </p:nvSpPr>
        <p:spPr>
          <a:xfrm>
            <a:off x="5941364" y="15080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14" name="Google Shape;314;p17"/>
          <p:cNvSpPr txBox="1">
            <a:spLocks noGrp="1"/>
          </p:cNvSpPr>
          <p:nvPr>
            <p:ph type="body" idx="4294967295"/>
          </p:nvPr>
        </p:nvSpPr>
        <p:spPr>
          <a:xfrm>
            <a:off x="6247095" y="16547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800">
                <a:solidFill>
                  <a:schemeClr val="lt1"/>
                </a:solidFill>
              </a:rPr>
              <a:t>Validation </a:t>
            </a:r>
            <a:endParaRPr sz="1800">
              <a:solidFill>
                <a:schemeClr val="lt1"/>
              </a:solidFill>
            </a:endParaRPr>
          </a:p>
        </p:txBody>
      </p:sp>
      <p:sp>
        <p:nvSpPr>
          <p:cNvPr id="315" name="Google Shape;315;p17"/>
          <p:cNvSpPr txBox="1">
            <a:spLocks noGrp="1"/>
          </p:cNvSpPr>
          <p:nvPr>
            <p:ph type="body" idx="4294967295"/>
          </p:nvPr>
        </p:nvSpPr>
        <p:spPr>
          <a:xfrm>
            <a:off x="6247088" y="22737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800"/>
              </a:spcAft>
              <a:buNone/>
            </a:pPr>
            <a:r>
              <a:rPr lang="en" sz="1600" b="1"/>
              <a:t>We trained our models on 2022 - 2023 data and tested their performance on 2024 data to ensure reliable predictions and generalization of results. </a:t>
            </a:r>
            <a:endParaRPr sz="16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8"/>
          <p:cNvSpPr txBox="1">
            <a:spLocks noGrp="1"/>
          </p:cNvSpPr>
          <p:nvPr>
            <p:ph type="subTitle" idx="1"/>
          </p:nvPr>
        </p:nvSpPr>
        <p:spPr>
          <a:xfrm>
            <a:off x="1303800" y="1826050"/>
            <a:ext cx="3430500" cy="29589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SzPts val="1018"/>
              <a:buNone/>
            </a:pPr>
            <a:r>
              <a:rPr lang="en" sz="1380" b="1"/>
              <a:t>Bike Dataset</a:t>
            </a:r>
            <a:r>
              <a:rPr lang="en" sz="1380"/>
              <a:t>: 182,198 instances, each representing an individual trip from 2022 - 2024</a:t>
            </a:r>
            <a:endParaRPr sz="1380"/>
          </a:p>
          <a:p>
            <a:pPr marL="0" lvl="0" indent="0" algn="l" rtl="0">
              <a:lnSpc>
                <a:spcPct val="80000"/>
              </a:lnSpc>
              <a:spcBef>
                <a:spcPts val="0"/>
              </a:spcBef>
              <a:spcAft>
                <a:spcPts val="0"/>
              </a:spcAft>
              <a:buSzPts val="1018"/>
              <a:buNone/>
            </a:pPr>
            <a:endParaRPr sz="1380" b="1"/>
          </a:p>
          <a:p>
            <a:pPr marL="0" lvl="0" indent="0" algn="l" rtl="0">
              <a:lnSpc>
                <a:spcPct val="80000"/>
              </a:lnSpc>
              <a:spcBef>
                <a:spcPts val="0"/>
              </a:spcBef>
              <a:spcAft>
                <a:spcPts val="0"/>
              </a:spcAft>
              <a:buSzPts val="1018"/>
              <a:buNone/>
            </a:pPr>
            <a:r>
              <a:rPr lang="en" sz="1380" b="1"/>
              <a:t>Structuring:</a:t>
            </a:r>
            <a:r>
              <a:rPr lang="en" sz="1380"/>
              <a:t> </a:t>
            </a:r>
            <a:endParaRPr sz="1380"/>
          </a:p>
          <a:p>
            <a:pPr marL="457200" lvl="0" indent="-316230" algn="l" rtl="0">
              <a:lnSpc>
                <a:spcPct val="80000"/>
              </a:lnSpc>
              <a:spcBef>
                <a:spcPts val="0"/>
              </a:spcBef>
              <a:spcAft>
                <a:spcPts val="0"/>
              </a:spcAft>
              <a:buSzPts val="1380"/>
              <a:buChar char="●"/>
            </a:pPr>
            <a:r>
              <a:rPr lang="en" sz="1380"/>
              <a:t>Standardized dates and timestamps</a:t>
            </a:r>
            <a:endParaRPr sz="1380"/>
          </a:p>
          <a:p>
            <a:pPr marL="0" lvl="0" indent="0" algn="l" rtl="0">
              <a:lnSpc>
                <a:spcPct val="80000"/>
              </a:lnSpc>
              <a:spcBef>
                <a:spcPts val="0"/>
              </a:spcBef>
              <a:spcAft>
                <a:spcPts val="0"/>
              </a:spcAft>
              <a:buSzPts val="1018"/>
              <a:buNone/>
            </a:pPr>
            <a:endParaRPr sz="1380"/>
          </a:p>
          <a:p>
            <a:pPr marL="457200" lvl="0" indent="-316230" algn="l" rtl="0">
              <a:lnSpc>
                <a:spcPct val="80000"/>
              </a:lnSpc>
              <a:spcBef>
                <a:spcPts val="0"/>
              </a:spcBef>
              <a:spcAft>
                <a:spcPts val="0"/>
              </a:spcAft>
              <a:buSzPts val="1380"/>
              <a:buChar char="●"/>
            </a:pPr>
            <a:r>
              <a:rPr lang="en" sz="1380"/>
              <a:t>Standardized stations names and station IDs</a:t>
            </a:r>
            <a:endParaRPr sz="1380"/>
          </a:p>
          <a:p>
            <a:pPr marL="0" lvl="0" indent="0" algn="l" rtl="0">
              <a:lnSpc>
                <a:spcPct val="80000"/>
              </a:lnSpc>
              <a:spcBef>
                <a:spcPts val="0"/>
              </a:spcBef>
              <a:spcAft>
                <a:spcPts val="0"/>
              </a:spcAft>
              <a:buSzPts val="1018"/>
              <a:buNone/>
            </a:pPr>
            <a:endParaRPr sz="1380"/>
          </a:p>
          <a:p>
            <a:pPr marL="0" lvl="0" indent="0" algn="l" rtl="0">
              <a:lnSpc>
                <a:spcPct val="80000"/>
              </a:lnSpc>
              <a:spcBef>
                <a:spcPts val="0"/>
              </a:spcBef>
              <a:spcAft>
                <a:spcPts val="0"/>
              </a:spcAft>
              <a:buSzPts val="1018"/>
              <a:buNone/>
            </a:pPr>
            <a:r>
              <a:rPr lang="en" sz="1380" b="1"/>
              <a:t>Cleaning:</a:t>
            </a:r>
            <a:endParaRPr sz="1380" b="1"/>
          </a:p>
          <a:p>
            <a:pPr marL="457200" lvl="0" indent="-316230" algn="l" rtl="0">
              <a:lnSpc>
                <a:spcPct val="80000"/>
              </a:lnSpc>
              <a:spcBef>
                <a:spcPts val="0"/>
              </a:spcBef>
              <a:spcAft>
                <a:spcPts val="0"/>
              </a:spcAft>
              <a:buSzPts val="1380"/>
              <a:buChar char="●"/>
            </a:pPr>
            <a:r>
              <a:rPr lang="en" sz="1380"/>
              <a:t>Identified missing data: removed instances with </a:t>
            </a:r>
            <a:r>
              <a:rPr lang="en" sz="1380" b="1"/>
              <a:t>missing data </a:t>
            </a:r>
            <a:r>
              <a:rPr lang="en" sz="1380"/>
              <a:t>for </a:t>
            </a:r>
            <a:r>
              <a:rPr lang="en" sz="1380" b="1"/>
              <a:t>starting </a:t>
            </a:r>
            <a:r>
              <a:rPr lang="en" sz="1380"/>
              <a:t>and </a:t>
            </a:r>
            <a:r>
              <a:rPr lang="en" sz="1380" b="1"/>
              <a:t>end station</a:t>
            </a:r>
            <a:endParaRPr sz="1380" b="1"/>
          </a:p>
        </p:txBody>
      </p:sp>
      <p:sp>
        <p:nvSpPr>
          <p:cNvPr id="321" name="Google Shape;321;p18"/>
          <p:cNvSpPr txBox="1">
            <a:spLocks noGrp="1"/>
          </p:cNvSpPr>
          <p:nvPr>
            <p:ph type="title"/>
          </p:nvPr>
        </p:nvSpPr>
        <p:spPr>
          <a:xfrm>
            <a:off x="1303800" y="598575"/>
            <a:ext cx="3430500" cy="1113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Wrangling / Exploratory Data Analysis (EDA)</a:t>
            </a:r>
            <a:endParaRPr/>
          </a:p>
        </p:txBody>
      </p:sp>
      <p:sp>
        <p:nvSpPr>
          <p:cNvPr id="322" name="Google Shape;322;p18"/>
          <p:cNvSpPr txBox="1">
            <a:spLocks noGrp="1"/>
          </p:cNvSpPr>
          <p:nvPr>
            <p:ph type="body" idx="2"/>
          </p:nvPr>
        </p:nvSpPr>
        <p:spPr>
          <a:xfrm>
            <a:off x="4903700" y="661000"/>
            <a:ext cx="3430500" cy="4124100"/>
          </a:xfrm>
          <a:prstGeom prst="rect">
            <a:avLst/>
          </a:prstGeom>
        </p:spPr>
        <p:txBody>
          <a:bodyPr spcFirstLastPara="1" wrap="square" lIns="91425" tIns="91425" rIns="91425" bIns="91425" anchor="t" anchorCtr="0">
            <a:normAutofit fontScale="92500" lnSpcReduction="20000"/>
          </a:bodyPr>
          <a:lstStyle/>
          <a:p>
            <a:pPr marL="0" lvl="0" indent="0" algn="l" rtl="0">
              <a:lnSpc>
                <a:spcPct val="100000"/>
              </a:lnSpc>
              <a:spcBef>
                <a:spcPts val="0"/>
              </a:spcBef>
              <a:spcAft>
                <a:spcPts val="0"/>
              </a:spcAft>
              <a:buNone/>
            </a:pPr>
            <a:r>
              <a:rPr lang="en" sz="1600" b="1" dirty="0"/>
              <a:t>Cleaning:</a:t>
            </a:r>
            <a:r>
              <a:rPr lang="en" sz="1600" dirty="0"/>
              <a:t> </a:t>
            </a:r>
            <a:endParaRPr sz="1600" dirty="0"/>
          </a:p>
          <a:p>
            <a:pPr marL="457200" lvl="0" indent="-314960" algn="l" rtl="0">
              <a:lnSpc>
                <a:spcPct val="100000"/>
              </a:lnSpc>
              <a:spcBef>
                <a:spcPts val="0"/>
              </a:spcBef>
              <a:spcAft>
                <a:spcPts val="0"/>
              </a:spcAft>
              <a:buSzPct val="100000"/>
              <a:buChar char="●"/>
            </a:pPr>
            <a:r>
              <a:rPr lang="en" sz="1600" dirty="0"/>
              <a:t>Limited start and stop coordinates to be within the bounds of Columbus, OH </a:t>
            </a:r>
            <a:r>
              <a:rPr lang="en" sz="1600" b="1" dirty="0"/>
              <a:t>(39.5 to 40.2 latitude, -84.0 to -82.5 longitude)</a:t>
            </a:r>
            <a:endParaRPr sz="1600" b="1" dirty="0"/>
          </a:p>
          <a:p>
            <a:pPr marL="0" lvl="0" indent="0" algn="l" rtl="0">
              <a:lnSpc>
                <a:spcPct val="100000"/>
              </a:lnSpc>
              <a:spcBef>
                <a:spcPts val="0"/>
              </a:spcBef>
              <a:spcAft>
                <a:spcPts val="0"/>
              </a:spcAft>
              <a:buNone/>
            </a:pPr>
            <a:endParaRPr sz="1600" b="1" dirty="0"/>
          </a:p>
          <a:p>
            <a:pPr marL="457200" lvl="0" indent="-314960" algn="l" rtl="0">
              <a:lnSpc>
                <a:spcPct val="100000"/>
              </a:lnSpc>
              <a:spcBef>
                <a:spcPts val="0"/>
              </a:spcBef>
              <a:spcAft>
                <a:spcPts val="0"/>
              </a:spcAft>
              <a:buSzPct val="100000"/>
              <a:buChar char="●"/>
            </a:pPr>
            <a:r>
              <a:rPr lang="en" sz="1600" dirty="0"/>
              <a:t>Remove rows with totally missing start or end coordinates</a:t>
            </a:r>
            <a:endParaRPr sz="1600" dirty="0"/>
          </a:p>
          <a:p>
            <a:pPr marL="0" lvl="0" indent="0" algn="l" rtl="0">
              <a:lnSpc>
                <a:spcPct val="100000"/>
              </a:lnSpc>
              <a:spcBef>
                <a:spcPts val="0"/>
              </a:spcBef>
              <a:spcAft>
                <a:spcPts val="0"/>
              </a:spcAft>
              <a:buNone/>
            </a:pPr>
            <a:endParaRPr sz="1600" dirty="0"/>
          </a:p>
          <a:p>
            <a:pPr marL="457200" lvl="0" indent="-314960" algn="l" rtl="0">
              <a:lnSpc>
                <a:spcPct val="100000"/>
              </a:lnSpc>
              <a:spcBef>
                <a:spcPts val="0"/>
              </a:spcBef>
              <a:spcAft>
                <a:spcPts val="0"/>
              </a:spcAft>
              <a:buSzPct val="100000"/>
              <a:buChar char="●"/>
            </a:pPr>
            <a:r>
              <a:rPr lang="en" sz="1600" dirty="0"/>
              <a:t>Removed ride durations that lasted </a:t>
            </a:r>
            <a:r>
              <a:rPr lang="en" sz="1600" b="1" dirty="0"/>
              <a:t>more than 24 hours</a:t>
            </a:r>
            <a:endParaRPr sz="1600" b="1" dirty="0"/>
          </a:p>
          <a:p>
            <a:pPr marL="0" lvl="0" indent="0" algn="l" rtl="0">
              <a:lnSpc>
                <a:spcPct val="100000"/>
              </a:lnSpc>
              <a:spcBef>
                <a:spcPts val="0"/>
              </a:spcBef>
              <a:spcAft>
                <a:spcPts val="0"/>
              </a:spcAft>
              <a:buNone/>
            </a:pPr>
            <a:endParaRPr sz="1600" b="1" dirty="0"/>
          </a:p>
          <a:p>
            <a:pPr marL="457200" lvl="0" indent="-298767" algn="l" rtl="0">
              <a:lnSpc>
                <a:spcPct val="100000"/>
              </a:lnSpc>
              <a:spcBef>
                <a:spcPts val="0"/>
              </a:spcBef>
              <a:spcAft>
                <a:spcPts val="0"/>
              </a:spcAft>
              <a:buSzPct val="81250"/>
              <a:buChar char="●"/>
            </a:pPr>
            <a:r>
              <a:rPr lang="en" sz="1600" dirty="0"/>
              <a:t>Dropped ride instances with a </a:t>
            </a:r>
            <a:r>
              <a:rPr lang="en" sz="1600" b="1" dirty="0"/>
              <a:t>less than 0 minute ride duration</a:t>
            </a:r>
            <a:endParaRPr sz="1600" b="1" dirty="0"/>
          </a:p>
          <a:p>
            <a:pPr marL="0" lvl="0" indent="0" algn="l" rtl="0">
              <a:lnSpc>
                <a:spcPct val="100000"/>
              </a:lnSpc>
              <a:spcBef>
                <a:spcPts val="0"/>
              </a:spcBef>
              <a:spcAft>
                <a:spcPts val="0"/>
              </a:spcAft>
              <a:buNone/>
            </a:pPr>
            <a:endParaRPr sz="1600" b="1" dirty="0"/>
          </a:p>
          <a:p>
            <a:pPr marL="457200" lvl="0" indent="-314960" algn="l" rtl="0">
              <a:lnSpc>
                <a:spcPct val="100000"/>
              </a:lnSpc>
              <a:spcBef>
                <a:spcPts val="0"/>
              </a:spcBef>
              <a:spcAft>
                <a:spcPts val="0"/>
              </a:spcAft>
              <a:buSzPct val="100000"/>
              <a:buChar char="●"/>
            </a:pPr>
            <a:r>
              <a:rPr lang="en" sz="1600" dirty="0"/>
              <a:t>Drop outliers</a:t>
            </a:r>
            <a:endParaRPr sz="1600" dirty="0"/>
          </a:p>
          <a:p>
            <a:pPr marL="0" lvl="0" indent="0" algn="l" rtl="0">
              <a:lnSpc>
                <a:spcPct val="100000"/>
              </a:lnSpc>
              <a:spcBef>
                <a:spcPts val="0"/>
              </a:spcBef>
              <a:spcAft>
                <a:spcPts val="0"/>
              </a:spcAft>
              <a:buNone/>
            </a:pPr>
            <a:endParaRPr sz="1600" dirty="0"/>
          </a:p>
          <a:p>
            <a:pPr marL="457200" lvl="0" indent="-314960" algn="l" rtl="0">
              <a:lnSpc>
                <a:spcPct val="100000"/>
              </a:lnSpc>
              <a:spcBef>
                <a:spcPts val="0"/>
              </a:spcBef>
              <a:spcAft>
                <a:spcPts val="0"/>
              </a:spcAft>
              <a:buSzPct val="100000"/>
              <a:buChar char="●"/>
            </a:pPr>
            <a:r>
              <a:rPr lang="en" sz="1600" dirty="0"/>
              <a:t>No significant multicollinearity detected</a:t>
            </a:r>
            <a:endParaRPr sz="1600" dirty="0"/>
          </a:p>
          <a:p>
            <a:pPr marL="0" lvl="0" indent="0" algn="l" rtl="0">
              <a:spcBef>
                <a:spcPts val="0"/>
              </a:spcBef>
              <a:spcAft>
                <a:spcPts val="12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9"/>
          <p:cNvSpPr txBox="1">
            <a:spLocks noGrp="1"/>
          </p:cNvSpPr>
          <p:nvPr>
            <p:ph type="subTitle" idx="1"/>
          </p:nvPr>
        </p:nvSpPr>
        <p:spPr>
          <a:xfrm>
            <a:off x="918700" y="1826050"/>
            <a:ext cx="3595500" cy="295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Enriching</a:t>
            </a:r>
            <a:endParaRPr sz="1200" b="1"/>
          </a:p>
          <a:p>
            <a:pPr marL="457200" lvl="0" indent="-304800" algn="l" rtl="0">
              <a:spcBef>
                <a:spcPts val="0"/>
              </a:spcBef>
              <a:spcAft>
                <a:spcPts val="0"/>
              </a:spcAft>
              <a:buSzPts val="1200"/>
              <a:buChar char="●"/>
            </a:pPr>
            <a:r>
              <a:rPr lang="en" sz="1200"/>
              <a:t>Created new measures</a:t>
            </a:r>
            <a:endParaRPr sz="1200"/>
          </a:p>
          <a:p>
            <a:pPr marL="457200" lvl="0" indent="-304800" algn="l" rtl="0">
              <a:spcBef>
                <a:spcPts val="0"/>
              </a:spcBef>
              <a:spcAft>
                <a:spcPts val="0"/>
              </a:spcAft>
              <a:buSzPts val="1200"/>
              <a:buChar char="●"/>
            </a:pPr>
            <a:r>
              <a:rPr lang="en" sz="1200" b="1"/>
              <a:t>Ride duration</a:t>
            </a:r>
            <a:r>
              <a:rPr lang="en" sz="1200"/>
              <a:t> (calculated from ride start time and end time)</a:t>
            </a:r>
            <a:endParaRPr sz="1200"/>
          </a:p>
          <a:p>
            <a:pPr marL="914400" lvl="1" indent="-304800" algn="l" rtl="0">
              <a:spcBef>
                <a:spcPts val="0"/>
              </a:spcBef>
              <a:spcAft>
                <a:spcPts val="0"/>
              </a:spcAft>
              <a:buSzPts val="1200"/>
              <a:buChar char="○"/>
            </a:pPr>
            <a:r>
              <a:rPr lang="en" sz="1200"/>
              <a:t>Average ride duration is </a:t>
            </a:r>
            <a:r>
              <a:rPr lang="en" sz="1200" b="1"/>
              <a:t>22.18 min</a:t>
            </a:r>
            <a:endParaRPr sz="1200" b="1"/>
          </a:p>
          <a:p>
            <a:pPr marL="914400" lvl="0" indent="0" algn="l" rtl="0">
              <a:spcBef>
                <a:spcPts val="0"/>
              </a:spcBef>
              <a:spcAft>
                <a:spcPts val="0"/>
              </a:spcAft>
              <a:buNone/>
            </a:pPr>
            <a:endParaRPr sz="1200"/>
          </a:p>
        </p:txBody>
      </p:sp>
      <p:sp>
        <p:nvSpPr>
          <p:cNvPr id="328" name="Google Shape;328;p19"/>
          <p:cNvSpPr txBox="1">
            <a:spLocks noGrp="1"/>
          </p:cNvSpPr>
          <p:nvPr>
            <p:ph type="title"/>
          </p:nvPr>
        </p:nvSpPr>
        <p:spPr>
          <a:xfrm>
            <a:off x="1303800" y="598575"/>
            <a:ext cx="3430500" cy="1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Wrangling (cont.)</a:t>
            </a:r>
            <a:endParaRPr/>
          </a:p>
        </p:txBody>
      </p:sp>
      <p:sp>
        <p:nvSpPr>
          <p:cNvPr id="329" name="Google Shape;329;p19"/>
          <p:cNvSpPr txBox="1"/>
          <p:nvPr/>
        </p:nvSpPr>
        <p:spPr>
          <a:xfrm>
            <a:off x="5359850" y="1826050"/>
            <a:ext cx="3000000" cy="9234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2"/>
              </a:buClr>
              <a:buSzPts val="1200"/>
              <a:buFont typeface="Nunito"/>
              <a:buChar char="●"/>
            </a:pPr>
            <a:r>
              <a:rPr lang="en" sz="1200">
                <a:solidFill>
                  <a:schemeClr val="dk2"/>
                </a:solidFill>
                <a:latin typeface="Nunito"/>
                <a:ea typeface="Nunito"/>
                <a:cs typeface="Nunito"/>
                <a:sym typeface="Nunito"/>
              </a:rPr>
              <a:t>Ride duration is heavily skewed to the right</a:t>
            </a:r>
            <a:endParaRPr sz="1200">
              <a:solidFill>
                <a:schemeClr val="dk2"/>
              </a:solidFill>
              <a:latin typeface="Nunito"/>
              <a:ea typeface="Nunito"/>
              <a:cs typeface="Nunito"/>
              <a:sym typeface="Nunito"/>
            </a:endParaRPr>
          </a:p>
          <a:p>
            <a:pPr marL="0" lvl="0" indent="0" algn="l" rtl="0">
              <a:spcBef>
                <a:spcPts val="0"/>
              </a:spcBef>
              <a:spcAft>
                <a:spcPts val="0"/>
              </a:spcAft>
              <a:buNone/>
            </a:pPr>
            <a:endParaRPr sz="1200">
              <a:solidFill>
                <a:schemeClr val="dk2"/>
              </a:solidFill>
              <a:latin typeface="Nunito"/>
              <a:ea typeface="Nunito"/>
              <a:cs typeface="Nunito"/>
              <a:sym typeface="Nunito"/>
            </a:endParaRPr>
          </a:p>
          <a:p>
            <a:pPr marL="0" lvl="0" indent="0" algn="l" rtl="0">
              <a:lnSpc>
                <a:spcPct val="115000"/>
              </a:lnSpc>
              <a:spcBef>
                <a:spcPts val="0"/>
              </a:spcBef>
              <a:spcAft>
                <a:spcPts val="1200"/>
              </a:spcAft>
              <a:buNone/>
            </a:pPr>
            <a:endParaRPr sz="1200">
              <a:solidFill>
                <a:schemeClr val="dk2"/>
              </a:solidFill>
              <a:latin typeface="Nunito"/>
              <a:ea typeface="Nunito"/>
              <a:cs typeface="Nunito"/>
              <a:sym typeface="Nunito"/>
            </a:endParaRPr>
          </a:p>
        </p:txBody>
      </p:sp>
      <p:pic>
        <p:nvPicPr>
          <p:cNvPr id="330" name="Google Shape;330;p19" title="Ride duration histogram.png"/>
          <p:cNvPicPr preferRelativeResize="0"/>
          <p:nvPr/>
        </p:nvPicPr>
        <p:blipFill>
          <a:blip r:embed="rId3">
            <a:alphaModFix/>
          </a:blip>
          <a:stretch>
            <a:fillRect/>
          </a:stretch>
        </p:blipFill>
        <p:spPr>
          <a:xfrm>
            <a:off x="4572000" y="2482372"/>
            <a:ext cx="4481250" cy="2508727"/>
          </a:xfrm>
          <a:prstGeom prst="rect">
            <a:avLst/>
          </a:prstGeom>
          <a:noFill/>
          <a:ln>
            <a:noFill/>
          </a:ln>
        </p:spPr>
      </p:pic>
      <p:pic>
        <p:nvPicPr>
          <p:cNvPr id="331" name="Google Shape;331;p19"/>
          <p:cNvPicPr preferRelativeResize="0"/>
          <p:nvPr/>
        </p:nvPicPr>
        <p:blipFill>
          <a:blip r:embed="rId4">
            <a:alphaModFix/>
          </a:blip>
          <a:stretch>
            <a:fillRect/>
          </a:stretch>
        </p:blipFill>
        <p:spPr>
          <a:xfrm>
            <a:off x="1641950" y="2934250"/>
            <a:ext cx="2056850" cy="2056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0"/>
          <p:cNvSpPr txBox="1">
            <a:spLocks noGrp="1"/>
          </p:cNvSpPr>
          <p:nvPr>
            <p:ph type="subTitle" idx="1"/>
          </p:nvPr>
        </p:nvSpPr>
        <p:spPr>
          <a:xfrm>
            <a:off x="1303800" y="1826050"/>
            <a:ext cx="3430500" cy="295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Enriching</a:t>
            </a:r>
            <a:endParaRPr sz="1200" b="1"/>
          </a:p>
          <a:p>
            <a:pPr marL="457200" lvl="0" indent="-304800" algn="l" rtl="0">
              <a:spcBef>
                <a:spcPts val="0"/>
              </a:spcBef>
              <a:spcAft>
                <a:spcPts val="0"/>
              </a:spcAft>
              <a:buSzPts val="1200"/>
              <a:buChar char="●"/>
            </a:pPr>
            <a:r>
              <a:rPr lang="en" sz="1200"/>
              <a:t>Created new measures</a:t>
            </a:r>
            <a:endParaRPr sz="1200"/>
          </a:p>
          <a:p>
            <a:pPr marL="457200" lvl="0" indent="-304800" algn="l" rtl="0">
              <a:spcBef>
                <a:spcPts val="0"/>
              </a:spcBef>
              <a:spcAft>
                <a:spcPts val="0"/>
              </a:spcAft>
              <a:buSzPts val="1200"/>
              <a:buChar char="●"/>
            </a:pPr>
            <a:r>
              <a:rPr lang="en" sz="1200"/>
              <a:t>Distance - calculated from </a:t>
            </a:r>
            <a:r>
              <a:rPr lang="en" sz="1200" b="1"/>
              <a:t>start and end latitude and longitude</a:t>
            </a:r>
            <a:endParaRPr sz="1200" b="1"/>
          </a:p>
          <a:p>
            <a:pPr marL="914400" lvl="1" indent="-304800" algn="l" rtl="0">
              <a:spcBef>
                <a:spcPts val="0"/>
              </a:spcBef>
              <a:spcAft>
                <a:spcPts val="0"/>
              </a:spcAft>
              <a:buSzPts val="1200"/>
              <a:buChar char="○"/>
            </a:pPr>
            <a:r>
              <a:rPr lang="en" sz="1200"/>
              <a:t>On </a:t>
            </a:r>
            <a:r>
              <a:rPr lang="en" sz="1200" b="1"/>
              <a:t>average </a:t>
            </a:r>
            <a:r>
              <a:rPr lang="en" sz="1200"/>
              <a:t>the distance between start and end of the ride is </a:t>
            </a:r>
            <a:r>
              <a:rPr lang="en" sz="1200" b="1"/>
              <a:t>1 mile</a:t>
            </a:r>
            <a:r>
              <a:rPr lang="en" sz="1200"/>
              <a:t> directly</a:t>
            </a:r>
            <a:endParaRPr sz="1200"/>
          </a:p>
          <a:p>
            <a:pPr marL="914400" lvl="1" indent="-304800" algn="l" rtl="0">
              <a:spcBef>
                <a:spcPts val="0"/>
              </a:spcBef>
              <a:spcAft>
                <a:spcPts val="0"/>
              </a:spcAft>
              <a:buSzPts val="1200"/>
              <a:buChar char="○"/>
            </a:pPr>
            <a:r>
              <a:rPr lang="en" sz="1200"/>
              <a:t>Actual distance traveled may be more for routing or circles</a:t>
            </a:r>
            <a:endParaRPr sz="1200"/>
          </a:p>
          <a:p>
            <a:pPr marL="914400" lvl="1" indent="-304800" algn="l" rtl="0">
              <a:spcBef>
                <a:spcPts val="0"/>
              </a:spcBef>
              <a:spcAft>
                <a:spcPts val="0"/>
              </a:spcAft>
              <a:buSzPts val="1200"/>
              <a:buChar char="○"/>
            </a:pPr>
            <a:r>
              <a:rPr lang="en" sz="1200"/>
              <a:t>Distance for round trips will be 0 miles (Start location = end location)</a:t>
            </a:r>
            <a:endParaRPr sz="1200"/>
          </a:p>
        </p:txBody>
      </p:sp>
      <p:sp>
        <p:nvSpPr>
          <p:cNvPr id="337" name="Google Shape;337;p20"/>
          <p:cNvSpPr txBox="1">
            <a:spLocks noGrp="1"/>
          </p:cNvSpPr>
          <p:nvPr>
            <p:ph type="title"/>
          </p:nvPr>
        </p:nvSpPr>
        <p:spPr>
          <a:xfrm>
            <a:off x="1303800" y="598575"/>
            <a:ext cx="3430500" cy="1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Wrangling (cont.)</a:t>
            </a:r>
            <a:endParaRPr/>
          </a:p>
        </p:txBody>
      </p:sp>
      <p:sp>
        <p:nvSpPr>
          <p:cNvPr id="338" name="Google Shape;338;p20"/>
          <p:cNvSpPr txBox="1">
            <a:spLocks noGrp="1"/>
          </p:cNvSpPr>
          <p:nvPr>
            <p:ph type="body" idx="2"/>
          </p:nvPr>
        </p:nvSpPr>
        <p:spPr>
          <a:xfrm>
            <a:off x="4903700" y="661000"/>
            <a:ext cx="3430500" cy="4124100"/>
          </a:xfrm>
          <a:prstGeom prst="rect">
            <a:avLst/>
          </a:prstGeom>
        </p:spPr>
        <p:txBody>
          <a:bodyPr spcFirstLastPara="1" wrap="square" lIns="91425" tIns="91425" rIns="91425" bIns="91425" anchor="t" anchorCtr="0">
            <a:normAutofit/>
          </a:bodyPr>
          <a:lstStyle/>
          <a:p>
            <a:pPr marL="457200" lvl="0" indent="0" algn="l" rtl="0">
              <a:lnSpc>
                <a:spcPct val="100000"/>
              </a:lnSpc>
              <a:spcBef>
                <a:spcPts val="0"/>
              </a:spcBef>
              <a:spcAft>
                <a:spcPts val="0"/>
              </a:spcAft>
              <a:buNone/>
            </a:pPr>
            <a:endParaRPr sz="1200"/>
          </a:p>
          <a:p>
            <a:pPr marL="0" lvl="0" indent="0" algn="l" rtl="0">
              <a:lnSpc>
                <a:spcPct val="100000"/>
              </a:lnSpc>
              <a:spcBef>
                <a:spcPts val="0"/>
              </a:spcBef>
              <a:spcAft>
                <a:spcPts val="0"/>
              </a:spcAft>
              <a:buNone/>
            </a:pPr>
            <a:endParaRPr sz="1600"/>
          </a:p>
          <a:p>
            <a:pPr marL="0" lvl="0" indent="0" algn="l" rtl="0">
              <a:spcBef>
                <a:spcPts val="0"/>
              </a:spcBef>
              <a:spcAft>
                <a:spcPts val="1200"/>
              </a:spcAft>
              <a:buNone/>
            </a:pPr>
            <a:endParaRPr/>
          </a:p>
        </p:txBody>
      </p:sp>
      <p:pic>
        <p:nvPicPr>
          <p:cNvPr id="339" name="Google Shape;339;p20"/>
          <p:cNvPicPr preferRelativeResize="0"/>
          <p:nvPr/>
        </p:nvPicPr>
        <p:blipFill>
          <a:blip r:embed="rId3">
            <a:alphaModFix/>
          </a:blip>
          <a:stretch>
            <a:fillRect/>
          </a:stretch>
        </p:blipFill>
        <p:spPr>
          <a:xfrm>
            <a:off x="5722425" y="1762150"/>
            <a:ext cx="2152650" cy="24998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1"/>
          <p:cNvSpPr txBox="1">
            <a:spLocks noGrp="1"/>
          </p:cNvSpPr>
          <p:nvPr>
            <p:ph type="body" idx="2"/>
          </p:nvPr>
        </p:nvSpPr>
        <p:spPr>
          <a:xfrm>
            <a:off x="4903700" y="1744575"/>
            <a:ext cx="3430500" cy="30405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350" b="1"/>
              <a:t>Adding temperature and precipitation data for Columbus:</a:t>
            </a:r>
            <a:r>
              <a:rPr lang="en" sz="1350"/>
              <a:t> </a:t>
            </a:r>
            <a:endParaRPr sz="1350"/>
          </a:p>
          <a:p>
            <a:pPr marL="0" lvl="0" indent="0" algn="l" rtl="0">
              <a:lnSpc>
                <a:spcPct val="100000"/>
              </a:lnSpc>
              <a:spcBef>
                <a:spcPts val="0"/>
              </a:spcBef>
              <a:spcAft>
                <a:spcPts val="0"/>
              </a:spcAft>
              <a:buNone/>
            </a:pPr>
            <a:endParaRPr sz="1350"/>
          </a:p>
          <a:p>
            <a:pPr marL="457200" lvl="0" indent="-314325" algn="l" rtl="0">
              <a:lnSpc>
                <a:spcPct val="100000"/>
              </a:lnSpc>
              <a:spcBef>
                <a:spcPts val="0"/>
              </a:spcBef>
              <a:spcAft>
                <a:spcPts val="0"/>
              </a:spcAft>
              <a:buSzPts val="1350"/>
              <a:buChar char="●"/>
            </a:pPr>
            <a:r>
              <a:rPr lang="en" sz="1350"/>
              <a:t>Join weather data sources from National Oceanic and Atmospheric Administration (NOAA) for Columbus, OH for the same timeframe, 2022 -2024</a:t>
            </a:r>
            <a:endParaRPr sz="1350"/>
          </a:p>
          <a:p>
            <a:pPr marL="457200" lvl="0" indent="-314325" algn="l" rtl="0">
              <a:lnSpc>
                <a:spcPct val="100000"/>
              </a:lnSpc>
              <a:spcBef>
                <a:spcPts val="0"/>
              </a:spcBef>
              <a:spcAft>
                <a:spcPts val="0"/>
              </a:spcAft>
              <a:buSzPts val="1350"/>
              <a:buChar char="●"/>
            </a:pPr>
            <a:r>
              <a:rPr lang="en" sz="1350"/>
              <a:t>Min, max, and average temperature of each day to match ride date</a:t>
            </a:r>
            <a:endParaRPr sz="1350"/>
          </a:p>
          <a:p>
            <a:pPr marL="457200" lvl="0" indent="-314325" algn="l" rtl="0">
              <a:lnSpc>
                <a:spcPct val="100000"/>
              </a:lnSpc>
              <a:spcBef>
                <a:spcPts val="0"/>
              </a:spcBef>
              <a:spcAft>
                <a:spcPts val="0"/>
              </a:spcAft>
              <a:buSzPts val="1350"/>
              <a:buChar char="●"/>
            </a:pPr>
            <a:r>
              <a:rPr lang="en" sz="1350"/>
              <a:t>Precipitation and snow in inches </a:t>
            </a:r>
            <a:endParaRPr sz="1350"/>
          </a:p>
        </p:txBody>
      </p:sp>
      <p:sp>
        <p:nvSpPr>
          <p:cNvPr id="345" name="Google Shape;345;p21"/>
          <p:cNvSpPr txBox="1">
            <a:spLocks noGrp="1"/>
          </p:cNvSpPr>
          <p:nvPr>
            <p:ph type="subTitle" idx="1"/>
          </p:nvPr>
        </p:nvSpPr>
        <p:spPr>
          <a:xfrm>
            <a:off x="1303800" y="1826050"/>
            <a:ext cx="3430500" cy="29592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b="1" dirty="0"/>
              <a:t>Enriching</a:t>
            </a:r>
            <a:endParaRPr b="1" dirty="0"/>
          </a:p>
          <a:p>
            <a:pPr marL="457200" lvl="0" indent="-314960" algn="l" rtl="0">
              <a:spcBef>
                <a:spcPts val="0"/>
              </a:spcBef>
              <a:spcAft>
                <a:spcPts val="0"/>
              </a:spcAft>
              <a:buSzPct val="100000"/>
              <a:buChar char="●"/>
            </a:pPr>
            <a:r>
              <a:rPr lang="en" b="1" dirty="0"/>
              <a:t>Create feature for season</a:t>
            </a:r>
            <a:endParaRPr b="1" dirty="0"/>
          </a:p>
          <a:p>
            <a:pPr marL="914400" lvl="1" indent="-314960" algn="l" rtl="0">
              <a:spcBef>
                <a:spcPts val="0"/>
              </a:spcBef>
              <a:spcAft>
                <a:spcPts val="0"/>
              </a:spcAft>
              <a:buSzPct val="100000"/>
              <a:buChar char="○"/>
            </a:pPr>
            <a:r>
              <a:rPr lang="en" dirty="0"/>
              <a:t>Winter, spring, summer, fall</a:t>
            </a:r>
            <a:endParaRPr dirty="0"/>
          </a:p>
          <a:p>
            <a:pPr marL="914400" lvl="1" indent="-314960" algn="l" rtl="0">
              <a:spcBef>
                <a:spcPts val="0"/>
              </a:spcBef>
              <a:spcAft>
                <a:spcPts val="0"/>
              </a:spcAft>
              <a:buSzPct val="100000"/>
              <a:buChar char="○"/>
            </a:pPr>
            <a:r>
              <a:rPr lang="en" dirty="0"/>
              <a:t>This is useful due to temperature fluctuations in Ohio</a:t>
            </a:r>
            <a:endParaRPr dirty="0"/>
          </a:p>
          <a:p>
            <a:pPr marL="0" lvl="0" indent="0" algn="l" rtl="0">
              <a:spcBef>
                <a:spcPts val="0"/>
              </a:spcBef>
              <a:spcAft>
                <a:spcPts val="0"/>
              </a:spcAft>
              <a:buNone/>
            </a:pPr>
            <a:endParaRPr dirty="0"/>
          </a:p>
          <a:p>
            <a:pPr marL="457200" lvl="0" indent="-314960" algn="l" rtl="0">
              <a:spcBef>
                <a:spcPts val="0"/>
              </a:spcBef>
              <a:spcAft>
                <a:spcPts val="0"/>
              </a:spcAft>
              <a:buSzPct val="100000"/>
              <a:buChar char="●"/>
            </a:pPr>
            <a:r>
              <a:rPr lang="en" b="1" dirty="0"/>
              <a:t>Day of the week</a:t>
            </a:r>
            <a:r>
              <a:rPr lang="en" dirty="0"/>
              <a:t>: Extract day of the week from the datetime stamp for each ride along with a boolean column for weekend or not</a:t>
            </a:r>
            <a:endParaRPr dirty="0"/>
          </a:p>
          <a:p>
            <a:pPr marL="0" lvl="0" indent="0" algn="l" rtl="0">
              <a:spcBef>
                <a:spcPts val="0"/>
              </a:spcBef>
              <a:spcAft>
                <a:spcPts val="0"/>
              </a:spcAft>
              <a:buNone/>
            </a:pPr>
            <a:endParaRPr dirty="0"/>
          </a:p>
          <a:p>
            <a:pPr marL="457200" lvl="0" indent="-314960" algn="l" rtl="0">
              <a:spcBef>
                <a:spcPts val="0"/>
              </a:spcBef>
              <a:spcAft>
                <a:spcPts val="0"/>
              </a:spcAft>
              <a:buSzPct val="100000"/>
              <a:buChar char="●"/>
            </a:pPr>
            <a:r>
              <a:rPr lang="en" dirty="0"/>
              <a:t>Define </a:t>
            </a:r>
            <a:r>
              <a:rPr lang="en" b="1" dirty="0"/>
              <a:t>regions of Columbus</a:t>
            </a:r>
            <a:endParaRPr b="1" dirty="0"/>
          </a:p>
          <a:p>
            <a:pPr marL="914400" lvl="1" indent="-314960" algn="l" rtl="0">
              <a:spcBef>
                <a:spcPts val="0"/>
              </a:spcBef>
              <a:spcAft>
                <a:spcPts val="0"/>
              </a:spcAft>
              <a:buSzPct val="100000"/>
              <a:buChar char="○"/>
            </a:pPr>
            <a:r>
              <a:rPr lang="en" dirty="0"/>
              <a:t>North, East, South, West by relation to the average (center latitude and longitude)</a:t>
            </a:r>
            <a:endParaRPr b="1" dirty="0"/>
          </a:p>
        </p:txBody>
      </p:sp>
      <p:sp>
        <p:nvSpPr>
          <p:cNvPr id="346" name="Google Shape;346;p21"/>
          <p:cNvSpPr txBox="1">
            <a:spLocks noGrp="1"/>
          </p:cNvSpPr>
          <p:nvPr>
            <p:ph type="title"/>
          </p:nvPr>
        </p:nvSpPr>
        <p:spPr>
          <a:xfrm>
            <a:off x="1303800" y="598575"/>
            <a:ext cx="3430500" cy="114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Wrangling (cont.)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Approach</a:t>
            </a:r>
            <a:endParaRPr/>
          </a:p>
        </p:txBody>
      </p:sp>
      <p:grpSp>
        <p:nvGrpSpPr>
          <p:cNvPr id="352" name="Google Shape;352;p22"/>
          <p:cNvGrpSpPr/>
          <p:nvPr/>
        </p:nvGrpSpPr>
        <p:grpSpPr>
          <a:xfrm>
            <a:off x="431925" y="1304875"/>
            <a:ext cx="2628925" cy="3416400"/>
            <a:chOff x="431925" y="1304875"/>
            <a:chExt cx="2628925" cy="3416400"/>
          </a:xfrm>
        </p:grpSpPr>
        <p:sp>
          <p:nvSpPr>
            <p:cNvPr id="353" name="Google Shape;353;p22"/>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 name="Google Shape;355;p22"/>
          <p:cNvSpPr txBox="1">
            <a:spLocks noGrp="1"/>
          </p:cNvSpPr>
          <p:nvPr>
            <p:ph type="body" idx="4294967295"/>
          </p:nvPr>
        </p:nvSpPr>
        <p:spPr>
          <a:xfrm>
            <a:off x="506425" y="1304875"/>
            <a:ext cx="24945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Q1. Predict Rides per Day</a:t>
            </a:r>
            <a:endParaRPr>
              <a:solidFill>
                <a:schemeClr val="lt1"/>
              </a:solidFill>
            </a:endParaRPr>
          </a:p>
        </p:txBody>
      </p:sp>
      <p:sp>
        <p:nvSpPr>
          <p:cNvPr id="356" name="Google Shape;356;p22"/>
          <p:cNvSpPr txBox="1">
            <a:spLocks noGrp="1"/>
          </p:cNvSpPr>
          <p:nvPr>
            <p:ph type="body" idx="4294967295"/>
          </p:nvPr>
        </p:nvSpPr>
        <p:spPr>
          <a:xfrm>
            <a:off x="508325" y="1815665"/>
            <a:ext cx="2401130" cy="27948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sz="1600" dirty="0"/>
              <a:t>Regression model</a:t>
            </a:r>
            <a:endParaRPr sz="1600" dirty="0"/>
          </a:p>
          <a:p>
            <a:pPr marL="457200" lvl="0" indent="-292100" algn="l" rtl="0">
              <a:spcBef>
                <a:spcPts val="1200"/>
              </a:spcBef>
              <a:spcAft>
                <a:spcPts val="0"/>
              </a:spcAft>
              <a:buSzPct val="100000"/>
              <a:buChar char="●"/>
            </a:pPr>
            <a:r>
              <a:rPr lang="en" sz="1600" dirty="0"/>
              <a:t>Multiple linear regression, KNN regressor, decision tree/ensemble (Random forest)</a:t>
            </a:r>
            <a:endParaRPr sz="1600" dirty="0"/>
          </a:p>
          <a:p>
            <a:pPr marL="457200" lvl="0" indent="-292100" algn="l" rtl="0">
              <a:spcBef>
                <a:spcPts val="0"/>
              </a:spcBef>
              <a:spcAft>
                <a:spcPts val="0"/>
              </a:spcAft>
              <a:buSzPct val="100000"/>
              <a:buChar char="●"/>
            </a:pPr>
            <a:r>
              <a:rPr lang="en" sz="1600" dirty="0"/>
              <a:t>A variety of factors have an expected relationship with the number of trips taken in one day.</a:t>
            </a:r>
            <a:endParaRPr sz="1600" dirty="0"/>
          </a:p>
          <a:p>
            <a:pPr marL="457200" lvl="0" indent="-292100" algn="l" rtl="0">
              <a:spcBef>
                <a:spcPts val="0"/>
              </a:spcBef>
              <a:spcAft>
                <a:spcPts val="0"/>
              </a:spcAft>
              <a:buSzPct val="100000"/>
              <a:buChar char="●"/>
            </a:pPr>
            <a:r>
              <a:rPr lang="en" sz="1600" dirty="0"/>
              <a:t>We test multiple models that are flexible to many inputs and potential non-linear relationships.</a:t>
            </a:r>
            <a:endParaRPr sz="1600" dirty="0"/>
          </a:p>
          <a:p>
            <a:pPr marL="457200" lvl="0" indent="-292100" algn="l" rtl="0">
              <a:spcBef>
                <a:spcPts val="0"/>
              </a:spcBef>
              <a:spcAft>
                <a:spcPts val="0"/>
              </a:spcAft>
              <a:buSzPct val="100000"/>
              <a:buChar char="●"/>
            </a:pPr>
            <a:r>
              <a:rPr lang="en" sz="1600" dirty="0"/>
              <a:t>We keep in mind the desire for stakeholder interpretability when selecting the best model</a:t>
            </a:r>
            <a:endParaRPr sz="1600" dirty="0"/>
          </a:p>
        </p:txBody>
      </p:sp>
      <p:grpSp>
        <p:nvGrpSpPr>
          <p:cNvPr id="357" name="Google Shape;357;p22"/>
          <p:cNvGrpSpPr/>
          <p:nvPr/>
        </p:nvGrpSpPr>
        <p:grpSpPr>
          <a:xfrm>
            <a:off x="3320450" y="1304875"/>
            <a:ext cx="2632500" cy="3416400"/>
            <a:chOff x="3320450" y="1304875"/>
            <a:chExt cx="2632500" cy="3416400"/>
          </a:xfrm>
        </p:grpSpPr>
        <p:sp>
          <p:nvSpPr>
            <p:cNvPr id="358" name="Google Shape;358;p22"/>
            <p:cNvSpPr txBox="1"/>
            <p:nvPr/>
          </p:nvSpPr>
          <p:spPr>
            <a:xfrm>
              <a:off x="3324050"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33204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0" name="Google Shape;360;p22"/>
          <p:cNvSpPr txBox="1">
            <a:spLocks noGrp="1"/>
          </p:cNvSpPr>
          <p:nvPr>
            <p:ph type="body" idx="4294967295"/>
          </p:nvPr>
        </p:nvSpPr>
        <p:spPr>
          <a:xfrm>
            <a:off x="3389450" y="1304875"/>
            <a:ext cx="24945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Q2. Predict Trip Duration</a:t>
            </a:r>
            <a:endParaRPr>
              <a:solidFill>
                <a:schemeClr val="lt1"/>
              </a:solidFill>
            </a:endParaRPr>
          </a:p>
        </p:txBody>
      </p:sp>
      <p:sp>
        <p:nvSpPr>
          <p:cNvPr id="361" name="Google Shape;361;p22"/>
          <p:cNvSpPr txBox="1">
            <a:spLocks noGrp="1"/>
          </p:cNvSpPr>
          <p:nvPr>
            <p:ph type="body" idx="4294967295"/>
          </p:nvPr>
        </p:nvSpPr>
        <p:spPr>
          <a:xfrm>
            <a:off x="3396775" y="1815665"/>
            <a:ext cx="2478600" cy="279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605"/>
              <a:buNone/>
            </a:pPr>
            <a:r>
              <a:rPr lang="en" sz="1000" dirty="0"/>
              <a:t>Regression model</a:t>
            </a:r>
            <a:endParaRPr sz="1000" dirty="0"/>
          </a:p>
          <a:p>
            <a:pPr marL="457200" lvl="0" indent="-292100" algn="l" rtl="0">
              <a:spcBef>
                <a:spcPts val="1200"/>
              </a:spcBef>
              <a:spcAft>
                <a:spcPts val="0"/>
              </a:spcAft>
              <a:buSzPts val="1000"/>
              <a:buChar char="●"/>
            </a:pPr>
            <a:r>
              <a:rPr lang="en" sz="1000" dirty="0"/>
              <a:t>Similar to trip demand prediction, multiple linear regression, KNN regressor, decision trees/tree ensemble (random forest).</a:t>
            </a:r>
            <a:endParaRPr sz="1000" dirty="0"/>
          </a:p>
          <a:p>
            <a:pPr marL="457200" lvl="0" indent="-292100" algn="l" rtl="0">
              <a:spcBef>
                <a:spcPts val="0"/>
              </a:spcBef>
              <a:spcAft>
                <a:spcPts val="0"/>
              </a:spcAft>
              <a:buSzPts val="1000"/>
              <a:buChar char="●"/>
            </a:pPr>
            <a:r>
              <a:rPr lang="en" sz="1000" dirty="0"/>
              <a:t>Trip duration is expected to be impacted by bicycle type and trip distance between start and end stations.</a:t>
            </a:r>
            <a:endParaRPr sz="1000" dirty="0"/>
          </a:p>
          <a:p>
            <a:pPr marL="457200" lvl="0" indent="-292100" algn="l" rtl="0">
              <a:spcBef>
                <a:spcPts val="0"/>
              </a:spcBef>
              <a:spcAft>
                <a:spcPts val="0"/>
              </a:spcAft>
              <a:buSzPts val="1000"/>
              <a:buChar char="●"/>
            </a:pPr>
            <a:r>
              <a:rPr lang="en" sz="1000" dirty="0"/>
              <a:t>Trees and regression are more interpretable, but KNN non-parametric approach may be more powerful.</a:t>
            </a:r>
            <a:endParaRPr sz="1000" dirty="0"/>
          </a:p>
        </p:txBody>
      </p:sp>
      <p:grpSp>
        <p:nvGrpSpPr>
          <p:cNvPr id="362" name="Google Shape;362;p22"/>
          <p:cNvGrpSpPr/>
          <p:nvPr/>
        </p:nvGrpSpPr>
        <p:grpSpPr>
          <a:xfrm>
            <a:off x="6212550" y="1304875"/>
            <a:ext cx="2632500" cy="3416400"/>
            <a:chOff x="6212550" y="1304875"/>
            <a:chExt cx="2632500" cy="3416400"/>
          </a:xfrm>
        </p:grpSpPr>
        <p:sp>
          <p:nvSpPr>
            <p:cNvPr id="363" name="Google Shape;363;p22"/>
            <p:cNvSpPr/>
            <p:nvPr/>
          </p:nvSpPr>
          <p:spPr>
            <a:xfrm>
              <a:off x="621540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txBox="1"/>
            <p:nvPr/>
          </p:nvSpPr>
          <p:spPr>
            <a:xfrm>
              <a:off x="6212550" y="1304875"/>
              <a:ext cx="26325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5" name="Google Shape;365;p22"/>
          <p:cNvSpPr txBox="1">
            <a:spLocks noGrp="1"/>
          </p:cNvSpPr>
          <p:nvPr>
            <p:ph type="body" idx="4294967295"/>
          </p:nvPr>
        </p:nvSpPr>
        <p:spPr>
          <a:xfrm>
            <a:off x="6272475" y="1304875"/>
            <a:ext cx="24945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Q3. Predict Rider membership</a:t>
            </a:r>
            <a:endParaRPr>
              <a:solidFill>
                <a:schemeClr val="lt1"/>
              </a:solidFill>
            </a:endParaRPr>
          </a:p>
        </p:txBody>
      </p:sp>
      <p:sp>
        <p:nvSpPr>
          <p:cNvPr id="366" name="Google Shape;366;p22"/>
          <p:cNvSpPr txBox="1">
            <a:spLocks noGrp="1"/>
          </p:cNvSpPr>
          <p:nvPr>
            <p:ph type="body" idx="4294967295"/>
          </p:nvPr>
        </p:nvSpPr>
        <p:spPr>
          <a:xfrm>
            <a:off x="6286400" y="1815665"/>
            <a:ext cx="2478600" cy="279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dirty="0"/>
              <a:t>Classification model</a:t>
            </a:r>
            <a:endParaRPr sz="1000" dirty="0"/>
          </a:p>
          <a:p>
            <a:pPr marL="457200" lvl="0" indent="-292100" algn="l" rtl="0">
              <a:spcBef>
                <a:spcPts val="1200"/>
              </a:spcBef>
              <a:spcAft>
                <a:spcPts val="0"/>
              </a:spcAft>
              <a:buSzPts val="1000"/>
              <a:buChar char="●"/>
            </a:pPr>
            <a:r>
              <a:rPr lang="en" sz="1000" dirty="0"/>
              <a:t>Models tested are logistic regression, KNN classifier, and decision trees/ tree ensemble (random forest)</a:t>
            </a:r>
            <a:endParaRPr sz="1000" dirty="0"/>
          </a:p>
          <a:p>
            <a:pPr marL="457200" lvl="0" indent="-292100" algn="l" rtl="0">
              <a:spcBef>
                <a:spcPts val="0"/>
              </a:spcBef>
              <a:spcAft>
                <a:spcPts val="0"/>
              </a:spcAft>
              <a:buSzPts val="1000"/>
              <a:buChar char="●"/>
            </a:pPr>
            <a:r>
              <a:rPr lang="en" sz="1000" dirty="0"/>
              <a:t>Selected features are similar to regression models, including day of the week, precipitation, snow, avg. temperature, trip duration, region of Columbus, and type of bicycle.</a:t>
            </a:r>
            <a:endParaRPr sz="1000" dirty="0"/>
          </a:p>
          <a:p>
            <a:pPr marL="457200" lvl="0" indent="-292100" algn="l" rtl="0">
              <a:spcBef>
                <a:spcPts val="0"/>
              </a:spcBef>
              <a:spcAft>
                <a:spcPts val="0"/>
              </a:spcAft>
              <a:buSzPts val="1000"/>
              <a:buChar char="●"/>
            </a:pPr>
            <a:r>
              <a:rPr lang="en" sz="1000" dirty="0"/>
              <a:t>There is less risk in classifying a member as a non-member (false negative) than the inverse.</a:t>
            </a:r>
            <a:endParaRPr sz="1000" dirty="0"/>
          </a:p>
          <a:p>
            <a:pPr marL="0" lvl="0" indent="0" algn="l" rtl="0">
              <a:spcBef>
                <a:spcPts val="1200"/>
              </a:spcBef>
              <a:spcAft>
                <a:spcPts val="1200"/>
              </a:spcAft>
              <a:buNone/>
            </a:pPr>
            <a:endParaRPr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Assumptions</a:t>
            </a:r>
            <a:endParaRPr/>
          </a:p>
        </p:txBody>
      </p:sp>
      <p:sp>
        <p:nvSpPr>
          <p:cNvPr id="372" name="Google Shape;372;p23"/>
          <p:cNvSpPr/>
          <p:nvPr/>
        </p:nvSpPr>
        <p:spPr>
          <a:xfrm>
            <a:off x="432350" y="1304875"/>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73" name="Google Shape;373;p23"/>
          <p:cNvSpPr txBox="1">
            <a:spLocks noGrp="1"/>
          </p:cNvSpPr>
          <p:nvPr>
            <p:ph type="body" idx="4294967295"/>
          </p:nvPr>
        </p:nvSpPr>
        <p:spPr>
          <a:xfrm>
            <a:off x="432350" y="1451576"/>
            <a:ext cx="2257200" cy="314400"/>
          </a:xfrm>
          <a:prstGeom prst="rect">
            <a:avLst/>
          </a:prstGeom>
        </p:spPr>
        <p:txBody>
          <a:bodyPr spcFirstLastPara="1" wrap="square" lIns="91425" tIns="91425" rIns="91425" bIns="91425" anchor="ctr" anchorCtr="0">
            <a:normAutofit fontScale="77500" lnSpcReduction="20000"/>
          </a:bodyPr>
          <a:lstStyle/>
          <a:p>
            <a:pPr marL="0" lvl="0" indent="0" algn="l" rtl="0">
              <a:lnSpc>
                <a:spcPct val="100000"/>
              </a:lnSpc>
              <a:spcBef>
                <a:spcPts val="0"/>
              </a:spcBef>
              <a:spcAft>
                <a:spcPts val="0"/>
              </a:spcAft>
              <a:buNone/>
            </a:pPr>
            <a:r>
              <a:rPr lang="en">
                <a:solidFill>
                  <a:schemeClr val="lt1"/>
                </a:solidFill>
              </a:rPr>
              <a:t>Date Grouping</a:t>
            </a:r>
            <a:endParaRPr>
              <a:solidFill>
                <a:schemeClr val="lt1"/>
              </a:solidFill>
            </a:endParaRPr>
          </a:p>
        </p:txBody>
      </p:sp>
      <p:sp>
        <p:nvSpPr>
          <p:cNvPr id="374" name="Google Shape;374;p23"/>
          <p:cNvSpPr txBox="1">
            <a:spLocks noGrp="1"/>
          </p:cNvSpPr>
          <p:nvPr>
            <p:ph type="body" idx="4294967295"/>
          </p:nvPr>
        </p:nvSpPr>
        <p:spPr>
          <a:xfrm>
            <a:off x="432350" y="20705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800"/>
              </a:spcAft>
              <a:buNone/>
            </a:pPr>
            <a:r>
              <a:rPr lang="en" sz="1600" b="1"/>
              <a:t>Trip_start drives ride dates</a:t>
            </a:r>
            <a:endParaRPr sz="1600"/>
          </a:p>
        </p:txBody>
      </p:sp>
      <p:sp>
        <p:nvSpPr>
          <p:cNvPr id="375" name="Google Shape;375;p23"/>
          <p:cNvSpPr/>
          <p:nvPr/>
        </p:nvSpPr>
        <p:spPr>
          <a:xfrm>
            <a:off x="3044777"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76" name="Google Shape;376;p23"/>
          <p:cNvSpPr txBox="1">
            <a:spLocks noGrp="1"/>
          </p:cNvSpPr>
          <p:nvPr>
            <p:ph type="body" idx="4294967295"/>
          </p:nvPr>
        </p:nvSpPr>
        <p:spPr>
          <a:xfrm>
            <a:off x="3336150" y="1451576"/>
            <a:ext cx="2257200" cy="314400"/>
          </a:xfrm>
          <a:prstGeom prst="rect">
            <a:avLst/>
          </a:prstGeom>
        </p:spPr>
        <p:txBody>
          <a:bodyPr spcFirstLastPara="1" wrap="square" lIns="91425" tIns="91425" rIns="91425" bIns="91425" anchor="ctr" anchorCtr="0">
            <a:normAutofit fontScale="77500" lnSpcReduction="20000"/>
          </a:bodyPr>
          <a:lstStyle/>
          <a:p>
            <a:pPr marL="0" lvl="0" indent="0" algn="l" rtl="0">
              <a:lnSpc>
                <a:spcPct val="100000"/>
              </a:lnSpc>
              <a:spcBef>
                <a:spcPts val="0"/>
              </a:spcBef>
              <a:spcAft>
                <a:spcPts val="0"/>
              </a:spcAft>
              <a:buNone/>
            </a:pPr>
            <a:r>
              <a:rPr lang="en">
                <a:solidFill>
                  <a:schemeClr val="lt1"/>
                </a:solidFill>
              </a:rPr>
              <a:t>Data Collection Errors</a:t>
            </a:r>
            <a:endParaRPr>
              <a:solidFill>
                <a:schemeClr val="lt1"/>
              </a:solidFill>
            </a:endParaRPr>
          </a:p>
        </p:txBody>
      </p:sp>
      <p:sp>
        <p:nvSpPr>
          <p:cNvPr id="377" name="Google Shape;377;p23"/>
          <p:cNvSpPr txBox="1">
            <a:spLocks noGrp="1"/>
          </p:cNvSpPr>
          <p:nvPr>
            <p:ph type="body" idx="4294967295"/>
          </p:nvPr>
        </p:nvSpPr>
        <p:spPr>
          <a:xfrm>
            <a:off x="3336146" y="20705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t>Rides with duration &lt; 0 minutes are excluded as data errors</a:t>
            </a:r>
            <a:endParaRPr sz="1600" b="1"/>
          </a:p>
          <a:p>
            <a:pPr marL="0" lvl="0" indent="0" algn="l" rtl="0">
              <a:spcBef>
                <a:spcPts val="800"/>
              </a:spcBef>
              <a:spcAft>
                <a:spcPts val="800"/>
              </a:spcAft>
              <a:buNone/>
            </a:pPr>
            <a:r>
              <a:rPr lang="en" sz="1600" b="1"/>
              <a:t>Rides with duration &gt; 1,440 minutes (24 hours) are excluded as data errors</a:t>
            </a:r>
            <a:endParaRPr sz="1600" b="1"/>
          </a:p>
        </p:txBody>
      </p:sp>
      <p:sp>
        <p:nvSpPr>
          <p:cNvPr id="378" name="Google Shape;378;p23"/>
          <p:cNvSpPr/>
          <p:nvPr/>
        </p:nvSpPr>
        <p:spPr>
          <a:xfrm>
            <a:off x="5948502"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379" name="Google Shape;379;p23"/>
          <p:cNvSpPr txBox="1">
            <a:spLocks noGrp="1"/>
          </p:cNvSpPr>
          <p:nvPr>
            <p:ph type="body" idx="4294967295"/>
          </p:nvPr>
        </p:nvSpPr>
        <p:spPr>
          <a:xfrm>
            <a:off x="6254233" y="1451576"/>
            <a:ext cx="2257200" cy="314400"/>
          </a:xfrm>
          <a:prstGeom prst="rect">
            <a:avLst/>
          </a:prstGeom>
        </p:spPr>
        <p:txBody>
          <a:bodyPr spcFirstLastPara="1" wrap="square" lIns="91425" tIns="91425" rIns="91425" bIns="91425" anchor="ctr" anchorCtr="0">
            <a:normAutofit fontScale="77500" lnSpcReduction="20000"/>
          </a:bodyPr>
          <a:lstStyle/>
          <a:p>
            <a:pPr marL="0" lvl="0" indent="0" algn="l" rtl="0">
              <a:lnSpc>
                <a:spcPct val="100000"/>
              </a:lnSpc>
              <a:spcBef>
                <a:spcPts val="0"/>
              </a:spcBef>
              <a:spcAft>
                <a:spcPts val="0"/>
              </a:spcAft>
              <a:buNone/>
            </a:pPr>
            <a:r>
              <a:rPr lang="en">
                <a:solidFill>
                  <a:schemeClr val="lt1"/>
                </a:solidFill>
              </a:rPr>
              <a:t>Consistent Operations</a:t>
            </a:r>
            <a:endParaRPr>
              <a:solidFill>
                <a:schemeClr val="lt1"/>
              </a:solidFill>
            </a:endParaRPr>
          </a:p>
        </p:txBody>
      </p:sp>
      <p:sp>
        <p:nvSpPr>
          <p:cNvPr id="380" name="Google Shape;380;p23"/>
          <p:cNvSpPr txBox="1">
            <a:spLocks noGrp="1"/>
          </p:cNvSpPr>
          <p:nvPr>
            <p:ph type="body" idx="4294967295"/>
          </p:nvPr>
        </p:nvSpPr>
        <p:spPr>
          <a:xfrm>
            <a:off x="6254226" y="2070575"/>
            <a:ext cx="2471700" cy="2650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t>No major changes to CoGo operations over this time period</a:t>
            </a:r>
            <a:endParaRPr sz="1600" b="1"/>
          </a:p>
          <a:p>
            <a:pPr marL="0" lvl="0" indent="0" algn="l" rtl="0">
              <a:spcBef>
                <a:spcPts val="800"/>
              </a:spcBef>
              <a:spcAft>
                <a:spcPts val="800"/>
              </a:spcAft>
              <a:buNone/>
            </a:pPr>
            <a:r>
              <a:rPr lang="en" sz="1600"/>
              <a:t>Including but not limited to pricing structure, bike availability, etc. that would have impacted demand</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grpSp>
        <p:nvGrpSpPr>
          <p:cNvPr id="385" name="Google Shape;385;p24"/>
          <p:cNvGrpSpPr/>
          <p:nvPr/>
        </p:nvGrpSpPr>
        <p:grpSpPr>
          <a:xfrm>
            <a:off x="338904" y="1498350"/>
            <a:ext cx="8466190" cy="3416400"/>
            <a:chOff x="431925" y="1304875"/>
            <a:chExt cx="2628925" cy="3416400"/>
          </a:xfrm>
        </p:grpSpPr>
        <p:sp>
          <p:nvSpPr>
            <p:cNvPr id="386" name="Google Shape;386;p24"/>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4"/>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8" name="Google Shape;388;p24"/>
          <p:cNvSpPr txBox="1">
            <a:spLocks noGrp="1"/>
          </p:cNvSpPr>
          <p:nvPr>
            <p:ph type="body" idx="4294967295"/>
          </p:nvPr>
        </p:nvSpPr>
        <p:spPr>
          <a:xfrm>
            <a:off x="4350475" y="2056075"/>
            <a:ext cx="4372800" cy="2794800"/>
          </a:xfrm>
          <a:prstGeom prst="rect">
            <a:avLst/>
          </a:prstGeom>
        </p:spPr>
        <p:txBody>
          <a:bodyPr spcFirstLastPara="1" wrap="square" lIns="91425" tIns="91425" rIns="91425" bIns="91425" anchor="t" anchorCtr="0">
            <a:normAutofit/>
          </a:bodyPr>
          <a:lstStyle/>
          <a:p>
            <a:pPr marL="457200" lvl="0" indent="-322580" algn="l" rtl="0">
              <a:spcBef>
                <a:spcPts val="0"/>
              </a:spcBef>
              <a:spcAft>
                <a:spcPts val="0"/>
              </a:spcAft>
              <a:buSzPct val="100000"/>
              <a:buChar char="●"/>
            </a:pPr>
            <a:r>
              <a:rPr lang="en" sz="1200" dirty="0"/>
              <a:t>Trained different model types using features: </a:t>
            </a:r>
            <a:endParaRPr sz="1200" dirty="0"/>
          </a:p>
          <a:p>
            <a:pPr marL="914400" lvl="1" indent="-322580" algn="l" rtl="0">
              <a:spcBef>
                <a:spcPts val="0"/>
              </a:spcBef>
              <a:spcAft>
                <a:spcPts val="0"/>
              </a:spcAft>
              <a:buSzPct val="100000"/>
              <a:buChar char="○"/>
            </a:pPr>
            <a:r>
              <a:rPr lang="en" sz="1200" dirty="0"/>
              <a:t>day of the week</a:t>
            </a:r>
            <a:endParaRPr sz="1200" dirty="0"/>
          </a:p>
          <a:p>
            <a:pPr marL="914400" lvl="1" indent="-322580" algn="l" rtl="0">
              <a:spcBef>
                <a:spcPts val="0"/>
              </a:spcBef>
              <a:spcAft>
                <a:spcPts val="0"/>
              </a:spcAft>
              <a:buSzPct val="100000"/>
              <a:buChar char="○"/>
            </a:pPr>
            <a:r>
              <a:rPr lang="en" sz="1200" dirty="0"/>
              <a:t>precipitation and snow</a:t>
            </a:r>
            <a:endParaRPr sz="1200" dirty="0"/>
          </a:p>
          <a:p>
            <a:pPr marL="914400" lvl="1" indent="-322580" algn="l" rtl="0">
              <a:spcBef>
                <a:spcPts val="0"/>
              </a:spcBef>
              <a:spcAft>
                <a:spcPts val="0"/>
              </a:spcAft>
              <a:buSzPct val="100000"/>
              <a:buChar char="○"/>
            </a:pPr>
            <a:r>
              <a:rPr lang="en" sz="1200" dirty="0"/>
              <a:t>region of Columbus</a:t>
            </a:r>
            <a:endParaRPr sz="1200" dirty="0"/>
          </a:p>
          <a:p>
            <a:pPr marL="914400" lvl="1" indent="-322580" algn="l" rtl="0">
              <a:spcBef>
                <a:spcPts val="0"/>
              </a:spcBef>
              <a:spcAft>
                <a:spcPts val="0"/>
              </a:spcAft>
              <a:buSzPct val="100000"/>
              <a:buChar char="○"/>
            </a:pPr>
            <a:r>
              <a:rPr lang="en" sz="1200" dirty="0"/>
              <a:t>season</a:t>
            </a:r>
            <a:endParaRPr sz="1200" dirty="0"/>
          </a:p>
          <a:p>
            <a:pPr marL="914400" lvl="1" indent="-322580" algn="l" rtl="0">
              <a:spcBef>
                <a:spcPts val="0"/>
              </a:spcBef>
              <a:spcAft>
                <a:spcPts val="0"/>
              </a:spcAft>
              <a:buSzPct val="100000"/>
              <a:buChar char="○"/>
            </a:pPr>
            <a:r>
              <a:rPr lang="en" sz="1200" dirty="0"/>
              <a:t>average temperature</a:t>
            </a:r>
            <a:endParaRPr sz="1200" dirty="0"/>
          </a:p>
          <a:p>
            <a:pPr marL="914400" lvl="1" indent="-322580" algn="l" rtl="0">
              <a:spcBef>
                <a:spcPts val="0"/>
              </a:spcBef>
              <a:spcAft>
                <a:spcPts val="0"/>
              </a:spcAft>
              <a:buSzPct val="100000"/>
              <a:buChar char="○"/>
            </a:pPr>
            <a:r>
              <a:rPr lang="en" sz="1200" dirty="0"/>
              <a:t>CoGo membership status</a:t>
            </a:r>
            <a:endParaRPr sz="1200" dirty="0"/>
          </a:p>
          <a:p>
            <a:pPr marL="457200" lvl="0" indent="-322580" algn="l" rtl="0">
              <a:spcBef>
                <a:spcPts val="0"/>
              </a:spcBef>
              <a:spcAft>
                <a:spcPts val="0"/>
              </a:spcAft>
              <a:buSzPct val="100000"/>
              <a:buChar char="●"/>
            </a:pPr>
            <a:r>
              <a:rPr lang="en" sz="1200" b="1" dirty="0"/>
              <a:t>Target variable</a:t>
            </a:r>
            <a:r>
              <a:rPr lang="en" sz="1200" dirty="0"/>
              <a:t>: ride count</a:t>
            </a:r>
            <a:endParaRPr sz="1200" dirty="0"/>
          </a:p>
          <a:p>
            <a:pPr marL="457200" lvl="0" indent="-322580" algn="l" rtl="0">
              <a:spcBef>
                <a:spcPts val="0"/>
              </a:spcBef>
              <a:spcAft>
                <a:spcPts val="0"/>
              </a:spcAft>
              <a:buSzPct val="100000"/>
              <a:buChar char="●"/>
            </a:pPr>
            <a:r>
              <a:rPr lang="en" sz="1200" dirty="0"/>
              <a:t>Models tested: </a:t>
            </a:r>
            <a:r>
              <a:rPr lang="en" sz="1200" b="1" dirty="0"/>
              <a:t>multiple linear regression, KNN regression, and decision trees (random forest)</a:t>
            </a:r>
            <a:endParaRPr sz="1200" b="1" dirty="0"/>
          </a:p>
        </p:txBody>
      </p:sp>
      <p:sp>
        <p:nvSpPr>
          <p:cNvPr id="389" name="Google Shape;389;p24"/>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Predictive Modeling</a:t>
            </a:r>
            <a:endParaRPr/>
          </a:p>
        </p:txBody>
      </p:sp>
      <p:sp>
        <p:nvSpPr>
          <p:cNvPr id="390" name="Google Shape;390;p24"/>
          <p:cNvSpPr txBox="1">
            <a:spLocks noGrp="1"/>
          </p:cNvSpPr>
          <p:nvPr>
            <p:ph type="body" idx="4294967295"/>
          </p:nvPr>
        </p:nvSpPr>
        <p:spPr>
          <a:xfrm>
            <a:off x="506425" y="15428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Q1. Predictive Modeling of Bike Demand</a:t>
            </a:r>
            <a:endParaRPr>
              <a:solidFill>
                <a:schemeClr val="lt1"/>
              </a:solidFill>
            </a:endParaRPr>
          </a:p>
        </p:txBody>
      </p:sp>
      <p:sp>
        <p:nvSpPr>
          <p:cNvPr id="391" name="Google Shape;391;p24"/>
          <p:cNvSpPr txBox="1">
            <a:spLocks noGrp="1"/>
          </p:cNvSpPr>
          <p:nvPr>
            <p:ph type="body" idx="4294967295"/>
          </p:nvPr>
        </p:nvSpPr>
        <p:spPr>
          <a:xfrm>
            <a:off x="508325" y="2088225"/>
            <a:ext cx="3679200" cy="2794800"/>
          </a:xfrm>
          <a:prstGeom prst="rect">
            <a:avLst/>
          </a:prstGeom>
        </p:spPr>
        <p:txBody>
          <a:bodyPr spcFirstLastPara="1" wrap="square" lIns="91425" tIns="91425" rIns="91425" bIns="91425" anchor="t" anchorCtr="0">
            <a:noAutofit/>
          </a:bodyPr>
          <a:lstStyle/>
          <a:p>
            <a:pPr marL="457200" lvl="0" indent="-314960" algn="l" rtl="0">
              <a:spcBef>
                <a:spcPts val="0"/>
              </a:spcBef>
              <a:spcAft>
                <a:spcPts val="0"/>
              </a:spcAft>
              <a:buSzPct val="100000"/>
              <a:buChar char="●"/>
            </a:pPr>
            <a:r>
              <a:rPr lang="en" sz="1200" b="1" dirty="0"/>
              <a:t>Research question</a:t>
            </a:r>
            <a:r>
              <a:rPr lang="en" sz="1200" dirty="0"/>
              <a:t>: At a given day of the week, location, and weather condition, how many bikes will be needed in a specific region?</a:t>
            </a:r>
            <a:endParaRPr sz="1200" dirty="0"/>
          </a:p>
          <a:p>
            <a:pPr marL="457200" lvl="0" indent="-314960" algn="l" rtl="0">
              <a:spcBef>
                <a:spcPts val="0"/>
              </a:spcBef>
              <a:spcAft>
                <a:spcPts val="0"/>
              </a:spcAft>
              <a:buSzPct val="100000"/>
              <a:buChar char="●"/>
            </a:pPr>
            <a:r>
              <a:rPr lang="en" sz="1200" b="1" dirty="0"/>
              <a:t>Purpose</a:t>
            </a:r>
            <a:r>
              <a:rPr lang="en" sz="1200" dirty="0"/>
              <a:t>: Helps the company rebalance bikes so regions can meet demand, stations do not run empty or are overcrowded.</a:t>
            </a:r>
            <a:endParaRPr sz="1200" dirty="0"/>
          </a:p>
          <a:p>
            <a:pPr marL="457200" lvl="0" indent="-314960" algn="l" rtl="0">
              <a:spcBef>
                <a:spcPts val="0"/>
              </a:spcBef>
              <a:spcAft>
                <a:spcPts val="0"/>
              </a:spcAft>
              <a:buSzPct val="100000"/>
              <a:buChar char="●"/>
            </a:pPr>
            <a:r>
              <a:rPr lang="en" sz="1200" b="1" dirty="0"/>
              <a:t>Business Value</a:t>
            </a:r>
            <a:r>
              <a:rPr lang="en" sz="1200" dirty="0"/>
              <a:t>: Predicting the demand for bikes helps CoGo make sure bike fleet is distributed to meet demand, therefore maximizing usage and revenue.</a:t>
            </a:r>
            <a:endParaRPr sz="1200" dirty="0"/>
          </a:p>
        </p:txBody>
      </p:sp>
      <p:grpSp>
        <p:nvGrpSpPr>
          <p:cNvPr id="392" name="Google Shape;392;p24"/>
          <p:cNvGrpSpPr/>
          <p:nvPr/>
        </p:nvGrpSpPr>
        <p:grpSpPr>
          <a:xfrm>
            <a:off x="357689" y="760476"/>
            <a:ext cx="5074846" cy="666901"/>
            <a:chOff x="431925" y="760473"/>
            <a:chExt cx="3033925" cy="666901"/>
          </a:xfrm>
        </p:grpSpPr>
        <p:sp>
          <p:nvSpPr>
            <p:cNvPr id="393" name="Google Shape;393;p24"/>
            <p:cNvSpPr/>
            <p:nvPr/>
          </p:nvSpPr>
          <p:spPr>
            <a:xfrm>
              <a:off x="431950" y="760474"/>
              <a:ext cx="3033900" cy="666900"/>
            </a:xfrm>
            <a:prstGeom prst="rect">
              <a:avLst/>
            </a:prstGeom>
            <a:noFill/>
            <a:ln w="9525" cap="flat" cmpd="sng">
              <a:solidFill>
                <a:schemeClr val="dk1"/>
              </a:solidFill>
              <a:prstDash val="solid"/>
              <a:round/>
              <a:headEnd type="none" w="sm" len="sm"/>
              <a:tailEnd type="none" w="sm" len="sm"/>
            </a:ln>
          </p:spPr>
          <p:txBody>
            <a:bodyPr spcFirstLastPara="1" wrap="square" lIns="105500" tIns="105500" rIns="105500" bIns="105500"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sz="1000">
                  <a:latin typeface="Nunito"/>
                  <a:ea typeface="Nunito"/>
                  <a:cs typeface="Nunito"/>
                  <a:sym typeface="Nunito"/>
                </a:rPr>
                <a:t>Temporal: Train models on 2022 - 2023, test on 2024</a:t>
              </a:r>
              <a:endParaRPr sz="1000">
                <a:latin typeface="Nunito"/>
                <a:ea typeface="Nunito"/>
                <a:cs typeface="Nunito"/>
                <a:sym typeface="Nunito"/>
              </a:endParaRPr>
            </a:p>
          </p:txBody>
        </p:sp>
        <p:sp>
          <p:nvSpPr>
            <p:cNvPr id="394" name="Google Shape;394;p24"/>
            <p:cNvSpPr txBox="1"/>
            <p:nvPr/>
          </p:nvSpPr>
          <p:spPr>
            <a:xfrm>
              <a:off x="431925" y="760473"/>
              <a:ext cx="3033900" cy="329700"/>
            </a:xfrm>
            <a:prstGeom prst="rect">
              <a:avLst/>
            </a:prstGeom>
            <a:solidFill>
              <a:schemeClr val="dk1"/>
            </a:solidFill>
            <a:ln>
              <a:noFill/>
            </a:ln>
          </p:spPr>
          <p:txBody>
            <a:bodyPr spcFirstLastPara="1" wrap="square" lIns="105500" tIns="105500" rIns="105500" bIns="105500" anchor="ctr" anchorCtr="0">
              <a:noAutofit/>
            </a:bodyPr>
            <a:lstStyle/>
            <a:p>
              <a:pPr marL="0" lvl="0" indent="0" algn="l" rtl="0">
                <a:lnSpc>
                  <a:spcPct val="115000"/>
                </a:lnSpc>
                <a:spcBef>
                  <a:spcPts val="0"/>
                </a:spcBef>
                <a:spcAft>
                  <a:spcPts val="0"/>
                </a:spcAft>
                <a:buNone/>
              </a:pPr>
              <a:r>
                <a:rPr lang="en" sz="1300">
                  <a:solidFill>
                    <a:schemeClr val="lt1"/>
                  </a:solidFill>
                  <a:latin typeface="Nunito"/>
                  <a:ea typeface="Nunito"/>
                  <a:cs typeface="Nunito"/>
                  <a:sym typeface="Nunito"/>
                </a:rPr>
                <a:t>Validation Design</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grpSp>
        <p:nvGrpSpPr>
          <p:cNvPr id="399" name="Google Shape;399;p25"/>
          <p:cNvGrpSpPr/>
          <p:nvPr/>
        </p:nvGrpSpPr>
        <p:grpSpPr>
          <a:xfrm>
            <a:off x="357675" y="863675"/>
            <a:ext cx="8466110" cy="4242858"/>
            <a:chOff x="338904" y="1490941"/>
            <a:chExt cx="8466110" cy="3386700"/>
          </a:xfrm>
        </p:grpSpPr>
        <p:sp>
          <p:nvSpPr>
            <p:cNvPr id="400" name="Google Shape;400;p25"/>
            <p:cNvSpPr txBox="1"/>
            <p:nvPr/>
          </p:nvSpPr>
          <p:spPr>
            <a:xfrm>
              <a:off x="338904" y="1498350"/>
              <a:ext cx="846611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5"/>
            <p:cNvSpPr/>
            <p:nvPr/>
          </p:nvSpPr>
          <p:spPr>
            <a:xfrm>
              <a:off x="338978" y="1490941"/>
              <a:ext cx="8466000" cy="3386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2" name="Google Shape;402;p25"/>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Predictive Modeling</a:t>
            </a:r>
            <a:endParaRPr/>
          </a:p>
        </p:txBody>
      </p:sp>
      <p:sp>
        <p:nvSpPr>
          <p:cNvPr id="403" name="Google Shape;403;p25"/>
          <p:cNvSpPr txBox="1">
            <a:spLocks noGrp="1"/>
          </p:cNvSpPr>
          <p:nvPr>
            <p:ph type="body" idx="4294967295"/>
          </p:nvPr>
        </p:nvSpPr>
        <p:spPr>
          <a:xfrm>
            <a:off x="395250" y="9080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Q1. Predictive Modeling of Bike Demand</a:t>
            </a:r>
            <a:endParaRPr>
              <a:solidFill>
                <a:schemeClr val="lt1"/>
              </a:solidFill>
            </a:endParaRPr>
          </a:p>
        </p:txBody>
      </p:sp>
      <p:graphicFrame>
        <p:nvGraphicFramePr>
          <p:cNvPr id="404" name="Google Shape;404;p25"/>
          <p:cNvGraphicFramePr/>
          <p:nvPr/>
        </p:nvGraphicFramePr>
        <p:xfrm>
          <a:off x="430000" y="1554675"/>
          <a:ext cx="8284000" cy="2797725"/>
        </p:xfrm>
        <a:graphic>
          <a:graphicData uri="http://schemas.openxmlformats.org/drawingml/2006/table">
            <a:tbl>
              <a:tblPr>
                <a:noFill/>
                <a:tableStyleId>{31CFE100-5331-4432-B5D4-83C2F04BC905}</a:tableStyleId>
              </a:tblPr>
              <a:tblGrid>
                <a:gridCol w="1656800">
                  <a:extLst>
                    <a:ext uri="{9D8B030D-6E8A-4147-A177-3AD203B41FA5}">
                      <a16:colId xmlns:a16="http://schemas.microsoft.com/office/drawing/2014/main" val="20000"/>
                    </a:ext>
                  </a:extLst>
                </a:gridCol>
                <a:gridCol w="1656800">
                  <a:extLst>
                    <a:ext uri="{9D8B030D-6E8A-4147-A177-3AD203B41FA5}">
                      <a16:colId xmlns:a16="http://schemas.microsoft.com/office/drawing/2014/main" val="20001"/>
                    </a:ext>
                  </a:extLst>
                </a:gridCol>
                <a:gridCol w="1656800">
                  <a:extLst>
                    <a:ext uri="{9D8B030D-6E8A-4147-A177-3AD203B41FA5}">
                      <a16:colId xmlns:a16="http://schemas.microsoft.com/office/drawing/2014/main" val="20002"/>
                    </a:ext>
                  </a:extLst>
                </a:gridCol>
                <a:gridCol w="1656800">
                  <a:extLst>
                    <a:ext uri="{9D8B030D-6E8A-4147-A177-3AD203B41FA5}">
                      <a16:colId xmlns:a16="http://schemas.microsoft.com/office/drawing/2014/main" val="20003"/>
                    </a:ext>
                  </a:extLst>
                </a:gridCol>
                <a:gridCol w="1656800">
                  <a:extLst>
                    <a:ext uri="{9D8B030D-6E8A-4147-A177-3AD203B41FA5}">
                      <a16:colId xmlns:a16="http://schemas.microsoft.com/office/drawing/2014/main" val="20004"/>
                    </a:ext>
                  </a:extLst>
                </a:gridCol>
              </a:tblGrid>
              <a:tr h="322150">
                <a:tc>
                  <a:txBody>
                    <a:bodyPr/>
                    <a:lstStyle/>
                    <a:p>
                      <a:pPr marL="0" lvl="0" indent="0" algn="l" rtl="0">
                        <a:spcBef>
                          <a:spcPts val="0"/>
                        </a:spcBef>
                        <a:spcAft>
                          <a:spcPts val="0"/>
                        </a:spcAft>
                        <a:buNone/>
                      </a:pPr>
                      <a:r>
                        <a:rPr lang="en" sz="1000" b="1"/>
                        <a:t>Model</a:t>
                      </a:r>
                      <a:endParaRPr sz="1000" b="1"/>
                    </a:p>
                  </a:txBody>
                  <a:tcPr marL="91425" marR="91425" marT="91425" marB="91425"/>
                </a:tc>
                <a:tc>
                  <a:txBody>
                    <a:bodyPr/>
                    <a:lstStyle/>
                    <a:p>
                      <a:pPr marL="0" lvl="0" indent="0" algn="l" rtl="0">
                        <a:spcBef>
                          <a:spcPts val="0"/>
                        </a:spcBef>
                        <a:spcAft>
                          <a:spcPts val="0"/>
                        </a:spcAft>
                        <a:buNone/>
                      </a:pPr>
                      <a:r>
                        <a:rPr lang="en" sz="1000" b="1"/>
                        <a:t>RMSE</a:t>
                      </a:r>
                      <a:endParaRPr sz="1000" b="1"/>
                    </a:p>
                  </a:txBody>
                  <a:tcPr marL="91425" marR="91425" marT="91425" marB="91425"/>
                </a:tc>
                <a:tc>
                  <a:txBody>
                    <a:bodyPr/>
                    <a:lstStyle/>
                    <a:p>
                      <a:pPr marL="0" lvl="0" indent="0" algn="l" rtl="0">
                        <a:spcBef>
                          <a:spcPts val="0"/>
                        </a:spcBef>
                        <a:spcAft>
                          <a:spcPts val="0"/>
                        </a:spcAft>
                        <a:buNone/>
                      </a:pPr>
                      <a:r>
                        <a:rPr lang="en" sz="1000" b="1"/>
                        <a:t>MAPE</a:t>
                      </a:r>
                      <a:endParaRPr sz="1000" b="1"/>
                    </a:p>
                  </a:txBody>
                  <a:tcPr marL="91425" marR="91425" marT="91425" marB="91425"/>
                </a:tc>
                <a:tc>
                  <a:txBody>
                    <a:bodyPr/>
                    <a:lstStyle/>
                    <a:p>
                      <a:pPr marL="0" lvl="0" indent="0" algn="l" rtl="0">
                        <a:spcBef>
                          <a:spcPts val="0"/>
                        </a:spcBef>
                        <a:spcAft>
                          <a:spcPts val="0"/>
                        </a:spcAft>
                        <a:buNone/>
                      </a:pPr>
                      <a:r>
                        <a:rPr lang="en" sz="1000" b="1"/>
                        <a:t>R²</a:t>
                      </a:r>
                      <a:endParaRPr sz="1000" b="1"/>
                    </a:p>
                  </a:txBody>
                  <a:tcPr marL="91425" marR="91425" marT="91425" marB="91425"/>
                </a:tc>
                <a:tc>
                  <a:txBody>
                    <a:bodyPr/>
                    <a:lstStyle/>
                    <a:p>
                      <a:pPr marL="0" lvl="0" indent="0" algn="l" rtl="0">
                        <a:spcBef>
                          <a:spcPts val="0"/>
                        </a:spcBef>
                        <a:spcAft>
                          <a:spcPts val="0"/>
                        </a:spcAft>
                        <a:buNone/>
                      </a:pPr>
                      <a:r>
                        <a:rPr lang="en" sz="1000" b="1"/>
                        <a:t>Average Residual</a:t>
                      </a:r>
                      <a:endParaRPr sz="1000" b="1"/>
                    </a:p>
                  </a:txBody>
                  <a:tcPr marL="91425" marR="91425" marT="91425" marB="91425"/>
                </a:tc>
                <a:extLst>
                  <a:ext uri="{0D108BD9-81ED-4DB2-BD59-A6C34878D82A}">
                    <a16:rowId xmlns:a16="http://schemas.microsoft.com/office/drawing/2014/main" val="10000"/>
                  </a:ext>
                </a:extLst>
              </a:tr>
              <a:tr h="491150">
                <a:tc>
                  <a:txBody>
                    <a:bodyPr/>
                    <a:lstStyle/>
                    <a:p>
                      <a:pPr marL="0" lvl="0" indent="0" algn="l" rtl="0">
                        <a:spcBef>
                          <a:spcPts val="0"/>
                        </a:spcBef>
                        <a:spcAft>
                          <a:spcPts val="0"/>
                        </a:spcAft>
                        <a:buNone/>
                      </a:pPr>
                      <a:r>
                        <a:rPr lang="en" sz="1000"/>
                        <a:t>Multivariate Regression, all features</a:t>
                      </a:r>
                      <a:endParaRPr sz="1000"/>
                    </a:p>
                  </a:txBody>
                  <a:tcPr marL="91425" marR="91425" marT="91425" marB="91425"/>
                </a:tc>
                <a:tc>
                  <a:txBody>
                    <a:bodyPr/>
                    <a:lstStyle/>
                    <a:p>
                      <a:pPr marL="0" lvl="0" indent="0" algn="l" rtl="0">
                        <a:spcBef>
                          <a:spcPts val="0"/>
                        </a:spcBef>
                        <a:spcAft>
                          <a:spcPts val="0"/>
                        </a:spcAft>
                        <a:buNone/>
                      </a:pPr>
                      <a:r>
                        <a:rPr lang="en" sz="1000"/>
                        <a:t>32.08 </a:t>
                      </a:r>
                      <a:endParaRPr sz="1000"/>
                    </a:p>
                  </a:txBody>
                  <a:tcPr marL="91425" marR="91425" marT="91425" marB="91425"/>
                </a:tc>
                <a:tc>
                  <a:txBody>
                    <a:bodyPr/>
                    <a:lstStyle/>
                    <a:p>
                      <a:pPr marL="0" lvl="0" indent="0" algn="l" rtl="0">
                        <a:spcBef>
                          <a:spcPts val="0"/>
                        </a:spcBef>
                        <a:spcAft>
                          <a:spcPts val="0"/>
                        </a:spcAft>
                        <a:buNone/>
                      </a:pPr>
                      <a:r>
                        <a:rPr lang="en" sz="1000"/>
                        <a:t>161%</a:t>
                      </a:r>
                      <a:endParaRPr sz="1000"/>
                    </a:p>
                  </a:txBody>
                  <a:tcPr marL="91425" marR="91425" marT="91425" marB="91425"/>
                </a:tc>
                <a:tc>
                  <a:txBody>
                    <a:bodyPr/>
                    <a:lstStyle/>
                    <a:p>
                      <a:pPr marL="0" lvl="0" indent="0" algn="l" rtl="0">
                        <a:spcBef>
                          <a:spcPts val="0"/>
                        </a:spcBef>
                        <a:spcAft>
                          <a:spcPts val="0"/>
                        </a:spcAft>
                        <a:buNone/>
                      </a:pPr>
                      <a:r>
                        <a:rPr lang="en" sz="1000"/>
                        <a:t>0.285</a:t>
                      </a:r>
                      <a:endParaRPr sz="1000"/>
                    </a:p>
                  </a:txBody>
                  <a:tcPr marL="91425" marR="91425" marT="91425" marB="91425"/>
                </a:tc>
                <a:tc>
                  <a:txBody>
                    <a:bodyPr/>
                    <a:lstStyle/>
                    <a:p>
                      <a:pPr marL="0" lvl="0" indent="0" algn="l" rtl="0">
                        <a:spcBef>
                          <a:spcPts val="0"/>
                        </a:spcBef>
                        <a:spcAft>
                          <a:spcPts val="0"/>
                        </a:spcAft>
                        <a:buNone/>
                      </a:pPr>
                      <a:r>
                        <a:rPr lang="en" sz="1000"/>
                        <a:t>-2.32</a:t>
                      </a:r>
                      <a:endParaRPr sz="1000"/>
                    </a:p>
                  </a:txBody>
                  <a:tcPr marL="91425" marR="91425" marT="91425" marB="91425"/>
                </a:tc>
                <a:extLst>
                  <a:ext uri="{0D108BD9-81ED-4DB2-BD59-A6C34878D82A}">
                    <a16:rowId xmlns:a16="http://schemas.microsoft.com/office/drawing/2014/main" val="10001"/>
                  </a:ext>
                </a:extLst>
              </a:tr>
              <a:tr h="630325">
                <a:tc>
                  <a:txBody>
                    <a:bodyPr/>
                    <a:lstStyle/>
                    <a:p>
                      <a:pPr marL="0" lvl="0" indent="0" algn="l" rtl="0">
                        <a:spcBef>
                          <a:spcPts val="0"/>
                        </a:spcBef>
                        <a:spcAft>
                          <a:spcPts val="0"/>
                        </a:spcAft>
                        <a:buNone/>
                      </a:pPr>
                      <a:r>
                        <a:rPr lang="en" sz="1000"/>
                        <a:t>Multivariate Regression, PCA features</a:t>
                      </a:r>
                      <a:endParaRPr sz="1000"/>
                    </a:p>
                  </a:txBody>
                  <a:tcPr marL="91425" marR="91425" marT="91425" marB="91425"/>
                </a:tc>
                <a:tc>
                  <a:txBody>
                    <a:bodyPr/>
                    <a:lstStyle/>
                    <a:p>
                      <a:pPr marL="0" lvl="0" indent="0" algn="l" rtl="0">
                        <a:spcBef>
                          <a:spcPts val="0"/>
                        </a:spcBef>
                        <a:spcAft>
                          <a:spcPts val="0"/>
                        </a:spcAft>
                        <a:buNone/>
                      </a:pPr>
                      <a:r>
                        <a:rPr lang="en" sz="1000"/>
                        <a:t>31.49</a:t>
                      </a:r>
                      <a:endParaRPr sz="1000"/>
                    </a:p>
                  </a:txBody>
                  <a:tcPr marL="91425" marR="91425" marT="91425" marB="91425"/>
                </a:tc>
                <a:tc>
                  <a:txBody>
                    <a:bodyPr/>
                    <a:lstStyle/>
                    <a:p>
                      <a:pPr marL="0" lvl="0" indent="0" algn="l" rtl="0">
                        <a:spcBef>
                          <a:spcPts val="0"/>
                        </a:spcBef>
                        <a:spcAft>
                          <a:spcPts val="0"/>
                        </a:spcAft>
                        <a:buNone/>
                      </a:pPr>
                      <a:r>
                        <a:rPr lang="en" sz="1000"/>
                        <a:t>141%</a:t>
                      </a:r>
                      <a:endParaRPr sz="1000"/>
                    </a:p>
                  </a:txBody>
                  <a:tcPr marL="91425" marR="91425" marT="91425" marB="91425"/>
                </a:tc>
                <a:tc>
                  <a:txBody>
                    <a:bodyPr/>
                    <a:lstStyle/>
                    <a:p>
                      <a:pPr marL="0" lvl="0" indent="0" algn="l" rtl="0">
                        <a:spcBef>
                          <a:spcPts val="0"/>
                        </a:spcBef>
                        <a:spcAft>
                          <a:spcPts val="0"/>
                        </a:spcAft>
                        <a:buNone/>
                      </a:pPr>
                      <a:r>
                        <a:rPr lang="en" sz="1000"/>
                        <a:t>0.311</a:t>
                      </a:r>
                      <a:endParaRPr sz="1000"/>
                    </a:p>
                  </a:txBody>
                  <a:tcPr marL="91425" marR="91425" marT="91425" marB="91425"/>
                </a:tc>
                <a:tc>
                  <a:txBody>
                    <a:bodyPr/>
                    <a:lstStyle/>
                    <a:p>
                      <a:pPr marL="0" lvl="0" indent="0" algn="l" rtl="0">
                        <a:spcBef>
                          <a:spcPts val="0"/>
                        </a:spcBef>
                        <a:spcAft>
                          <a:spcPts val="0"/>
                        </a:spcAft>
                        <a:buNone/>
                      </a:pPr>
                      <a:r>
                        <a:rPr lang="en" sz="1000"/>
                        <a:t>-1.2</a:t>
                      </a:r>
                      <a:endParaRPr sz="1000"/>
                    </a:p>
                  </a:txBody>
                  <a:tcPr marL="91425" marR="91425" marT="91425" marB="91425"/>
                </a:tc>
                <a:extLst>
                  <a:ext uri="{0D108BD9-81ED-4DB2-BD59-A6C34878D82A}">
                    <a16:rowId xmlns:a16="http://schemas.microsoft.com/office/drawing/2014/main" val="10002"/>
                  </a:ext>
                </a:extLst>
              </a:tr>
              <a:tr h="322150">
                <a:tc>
                  <a:txBody>
                    <a:bodyPr/>
                    <a:lstStyle/>
                    <a:p>
                      <a:pPr marL="0" lvl="0" indent="0" algn="l" rtl="0">
                        <a:spcBef>
                          <a:spcPts val="0"/>
                        </a:spcBef>
                        <a:spcAft>
                          <a:spcPts val="0"/>
                        </a:spcAft>
                        <a:buNone/>
                      </a:pPr>
                      <a:r>
                        <a:rPr lang="en" sz="1000"/>
                        <a:t>KNN, all features</a:t>
                      </a:r>
                      <a:endParaRPr sz="1000"/>
                    </a:p>
                  </a:txBody>
                  <a:tcPr marL="91425" marR="91425" marT="91425" marB="91425"/>
                </a:tc>
                <a:tc>
                  <a:txBody>
                    <a:bodyPr/>
                    <a:lstStyle/>
                    <a:p>
                      <a:pPr marL="0" lvl="0" indent="0" algn="l" rtl="0">
                        <a:spcBef>
                          <a:spcPts val="0"/>
                        </a:spcBef>
                        <a:spcAft>
                          <a:spcPts val="0"/>
                        </a:spcAft>
                        <a:buNone/>
                      </a:pPr>
                      <a:r>
                        <a:rPr lang="en" sz="1000"/>
                        <a:t>32.39</a:t>
                      </a:r>
                      <a:endParaRPr sz="1000"/>
                    </a:p>
                  </a:txBody>
                  <a:tcPr marL="91425" marR="91425" marT="91425" marB="91425"/>
                </a:tc>
                <a:tc>
                  <a:txBody>
                    <a:bodyPr/>
                    <a:lstStyle/>
                    <a:p>
                      <a:pPr marL="0" lvl="0" indent="0" algn="l" rtl="0">
                        <a:spcBef>
                          <a:spcPts val="0"/>
                        </a:spcBef>
                        <a:spcAft>
                          <a:spcPts val="0"/>
                        </a:spcAft>
                        <a:buNone/>
                      </a:pPr>
                      <a:r>
                        <a:rPr lang="en" sz="1000"/>
                        <a:t>113%</a:t>
                      </a:r>
                      <a:endParaRPr sz="1000"/>
                    </a:p>
                  </a:txBody>
                  <a:tcPr marL="91425" marR="91425" marT="91425" marB="91425"/>
                </a:tc>
                <a:tc>
                  <a:txBody>
                    <a:bodyPr/>
                    <a:lstStyle/>
                    <a:p>
                      <a:pPr marL="0" lvl="0" indent="0" algn="l" rtl="0">
                        <a:spcBef>
                          <a:spcPts val="0"/>
                        </a:spcBef>
                        <a:spcAft>
                          <a:spcPts val="0"/>
                        </a:spcAft>
                        <a:buNone/>
                      </a:pPr>
                      <a:r>
                        <a:rPr lang="en" sz="1000"/>
                        <a:t>0.278</a:t>
                      </a:r>
                      <a:endParaRPr sz="1000"/>
                    </a:p>
                  </a:txBody>
                  <a:tcPr marL="91425" marR="91425" marT="91425" marB="91425"/>
                </a:tc>
                <a:tc>
                  <a:txBody>
                    <a:bodyPr/>
                    <a:lstStyle/>
                    <a:p>
                      <a:pPr marL="0" lvl="0" indent="0" algn="l" rtl="0">
                        <a:spcBef>
                          <a:spcPts val="0"/>
                        </a:spcBef>
                        <a:spcAft>
                          <a:spcPts val="0"/>
                        </a:spcAft>
                        <a:buNone/>
                      </a:pPr>
                      <a:r>
                        <a:rPr lang="en" sz="1000"/>
                        <a:t>3.45</a:t>
                      </a:r>
                      <a:endParaRPr sz="1000"/>
                    </a:p>
                  </a:txBody>
                  <a:tcPr marL="91425" marR="91425" marT="91425" marB="91425"/>
                </a:tc>
                <a:extLst>
                  <a:ext uri="{0D108BD9-81ED-4DB2-BD59-A6C34878D82A}">
                    <a16:rowId xmlns:a16="http://schemas.microsoft.com/office/drawing/2014/main" val="10003"/>
                  </a:ext>
                </a:extLst>
              </a:tr>
              <a:tr h="322150">
                <a:tc>
                  <a:txBody>
                    <a:bodyPr/>
                    <a:lstStyle/>
                    <a:p>
                      <a:pPr marL="0" lvl="0" indent="0" algn="l" rtl="0">
                        <a:spcBef>
                          <a:spcPts val="0"/>
                        </a:spcBef>
                        <a:spcAft>
                          <a:spcPts val="0"/>
                        </a:spcAft>
                        <a:buNone/>
                      </a:pPr>
                      <a:r>
                        <a:rPr lang="en" sz="1000"/>
                        <a:t>KNN, PCA features</a:t>
                      </a:r>
                      <a:endParaRPr sz="1000"/>
                    </a:p>
                  </a:txBody>
                  <a:tcPr marL="91425" marR="91425" marT="91425" marB="91425"/>
                </a:tc>
                <a:tc gridSpan="4">
                  <a:txBody>
                    <a:bodyPr/>
                    <a:lstStyle/>
                    <a:p>
                      <a:pPr marL="0" lvl="0" indent="0" algn="l" rtl="0">
                        <a:spcBef>
                          <a:spcPts val="0"/>
                        </a:spcBef>
                        <a:spcAft>
                          <a:spcPts val="0"/>
                        </a:spcAft>
                        <a:buNone/>
                      </a:pPr>
                      <a:r>
                        <a:rPr lang="en" sz="1000"/>
                        <a:t>Underperforms KNN all features significantly*</a:t>
                      </a:r>
                      <a:endParaRPr sz="1000"/>
                    </a:p>
                  </a:txBody>
                  <a:tcPr marL="91425" marR="91425" marT="91425" marB="91425"/>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22150">
                <a:tc>
                  <a:txBody>
                    <a:bodyPr/>
                    <a:lstStyle/>
                    <a:p>
                      <a:pPr marL="0" lvl="0" indent="0" algn="l" rtl="0">
                        <a:spcBef>
                          <a:spcPts val="0"/>
                        </a:spcBef>
                        <a:spcAft>
                          <a:spcPts val="0"/>
                        </a:spcAft>
                        <a:buNone/>
                      </a:pPr>
                      <a:r>
                        <a:rPr lang="en" sz="1000"/>
                        <a:t>Decision tree</a:t>
                      </a:r>
                      <a:endParaRPr sz="1000"/>
                    </a:p>
                  </a:txBody>
                  <a:tcPr marL="91425" marR="91425" marT="91425" marB="91425"/>
                </a:tc>
                <a:tc>
                  <a:txBody>
                    <a:bodyPr/>
                    <a:lstStyle/>
                    <a:p>
                      <a:pPr marL="0" lvl="0" indent="0" algn="l" rtl="0">
                        <a:spcBef>
                          <a:spcPts val="0"/>
                        </a:spcBef>
                        <a:spcAft>
                          <a:spcPts val="0"/>
                        </a:spcAft>
                        <a:buNone/>
                      </a:pPr>
                      <a:r>
                        <a:rPr lang="en" sz="1000"/>
                        <a:t>26.29</a:t>
                      </a:r>
                      <a:endParaRPr sz="1000"/>
                    </a:p>
                  </a:txBody>
                  <a:tcPr marL="91425" marR="91425" marT="91425" marB="91425"/>
                </a:tc>
                <a:tc>
                  <a:txBody>
                    <a:bodyPr/>
                    <a:lstStyle/>
                    <a:p>
                      <a:pPr marL="0" lvl="0" indent="0" algn="l" rtl="0">
                        <a:spcBef>
                          <a:spcPts val="0"/>
                        </a:spcBef>
                        <a:spcAft>
                          <a:spcPts val="0"/>
                        </a:spcAft>
                        <a:buNone/>
                      </a:pPr>
                      <a:r>
                        <a:rPr lang="en" sz="1000"/>
                        <a:t>63%</a:t>
                      </a:r>
                      <a:endParaRPr sz="1000"/>
                    </a:p>
                  </a:txBody>
                  <a:tcPr marL="91425" marR="91425" marT="91425" marB="91425"/>
                </a:tc>
                <a:tc>
                  <a:txBody>
                    <a:bodyPr/>
                    <a:lstStyle/>
                    <a:p>
                      <a:pPr marL="0" lvl="0" indent="0" algn="l" rtl="0">
                        <a:spcBef>
                          <a:spcPts val="0"/>
                        </a:spcBef>
                        <a:spcAft>
                          <a:spcPts val="0"/>
                        </a:spcAft>
                        <a:buNone/>
                      </a:pPr>
                      <a:r>
                        <a:rPr lang="en" sz="1000"/>
                        <a:t>0.52</a:t>
                      </a:r>
                      <a:endParaRPr sz="1000"/>
                    </a:p>
                  </a:txBody>
                  <a:tcPr marL="91425" marR="91425" marT="91425" marB="91425"/>
                </a:tc>
                <a:tc>
                  <a:txBody>
                    <a:bodyPr/>
                    <a:lstStyle/>
                    <a:p>
                      <a:pPr marL="0" lvl="0" indent="0" algn="l" rtl="0">
                        <a:spcBef>
                          <a:spcPts val="0"/>
                        </a:spcBef>
                        <a:spcAft>
                          <a:spcPts val="0"/>
                        </a:spcAft>
                        <a:buNone/>
                      </a:pPr>
                      <a:r>
                        <a:rPr lang="en" sz="1000"/>
                        <a:t>-0.76</a:t>
                      </a:r>
                      <a:endParaRPr sz="1000"/>
                    </a:p>
                  </a:txBody>
                  <a:tcPr marL="91425" marR="91425" marT="91425" marB="91425"/>
                </a:tc>
                <a:extLst>
                  <a:ext uri="{0D108BD9-81ED-4DB2-BD59-A6C34878D82A}">
                    <a16:rowId xmlns:a16="http://schemas.microsoft.com/office/drawing/2014/main" val="10005"/>
                  </a:ext>
                </a:extLst>
              </a:tr>
              <a:tr h="322150">
                <a:tc>
                  <a:txBody>
                    <a:bodyPr/>
                    <a:lstStyle/>
                    <a:p>
                      <a:pPr marL="0" lvl="0" indent="0" algn="l" rtl="0">
                        <a:spcBef>
                          <a:spcPts val="0"/>
                        </a:spcBef>
                        <a:spcAft>
                          <a:spcPts val="0"/>
                        </a:spcAft>
                        <a:buNone/>
                      </a:pPr>
                      <a:r>
                        <a:rPr lang="en" sz="1000" b="1"/>
                        <a:t>Random forest</a:t>
                      </a:r>
                      <a:endParaRPr sz="1000" b="1"/>
                    </a:p>
                  </a:txBody>
                  <a:tcPr marL="91425" marR="91425" marT="91425" marB="91425"/>
                </a:tc>
                <a:tc>
                  <a:txBody>
                    <a:bodyPr/>
                    <a:lstStyle/>
                    <a:p>
                      <a:pPr marL="0" lvl="0" indent="0" algn="l" rtl="0">
                        <a:spcBef>
                          <a:spcPts val="0"/>
                        </a:spcBef>
                        <a:spcAft>
                          <a:spcPts val="0"/>
                        </a:spcAft>
                        <a:buNone/>
                      </a:pPr>
                      <a:r>
                        <a:rPr lang="en" sz="1000" b="1"/>
                        <a:t>20.48</a:t>
                      </a:r>
                      <a:endParaRPr sz="1000" b="1"/>
                    </a:p>
                  </a:txBody>
                  <a:tcPr marL="91425" marR="91425" marT="91425" marB="91425"/>
                </a:tc>
                <a:tc>
                  <a:txBody>
                    <a:bodyPr/>
                    <a:lstStyle/>
                    <a:p>
                      <a:pPr marL="0" lvl="0" indent="0" algn="l" rtl="0">
                        <a:spcBef>
                          <a:spcPts val="0"/>
                        </a:spcBef>
                        <a:spcAft>
                          <a:spcPts val="0"/>
                        </a:spcAft>
                        <a:buNone/>
                      </a:pPr>
                      <a:r>
                        <a:rPr lang="en" sz="1000" b="1"/>
                        <a:t>53%</a:t>
                      </a:r>
                      <a:endParaRPr sz="1000" b="1"/>
                    </a:p>
                  </a:txBody>
                  <a:tcPr marL="91425" marR="91425" marT="91425" marB="91425"/>
                </a:tc>
                <a:tc>
                  <a:txBody>
                    <a:bodyPr/>
                    <a:lstStyle/>
                    <a:p>
                      <a:pPr marL="0" lvl="0" indent="0" algn="l" rtl="0">
                        <a:spcBef>
                          <a:spcPts val="0"/>
                        </a:spcBef>
                        <a:spcAft>
                          <a:spcPts val="0"/>
                        </a:spcAft>
                        <a:buNone/>
                      </a:pPr>
                      <a:r>
                        <a:rPr lang="en" sz="1000" b="1"/>
                        <a:t>0.71</a:t>
                      </a:r>
                      <a:endParaRPr sz="1000" b="1"/>
                    </a:p>
                  </a:txBody>
                  <a:tcPr marL="91425" marR="91425" marT="91425" marB="91425"/>
                </a:tc>
                <a:tc>
                  <a:txBody>
                    <a:bodyPr/>
                    <a:lstStyle/>
                    <a:p>
                      <a:pPr marL="0" lvl="0" indent="0" algn="l" rtl="0">
                        <a:spcBef>
                          <a:spcPts val="0"/>
                        </a:spcBef>
                        <a:spcAft>
                          <a:spcPts val="0"/>
                        </a:spcAft>
                        <a:buNone/>
                      </a:pPr>
                      <a:r>
                        <a:rPr lang="en" sz="1000" b="1"/>
                        <a:t>-1.58</a:t>
                      </a:r>
                      <a:endParaRPr sz="1000" b="1"/>
                    </a:p>
                  </a:txBody>
                  <a:tcPr marL="91425" marR="91425" marT="91425" marB="91425"/>
                </a:tc>
                <a:extLst>
                  <a:ext uri="{0D108BD9-81ED-4DB2-BD59-A6C34878D82A}">
                    <a16:rowId xmlns:a16="http://schemas.microsoft.com/office/drawing/2014/main" val="10006"/>
                  </a:ext>
                </a:extLst>
              </a:tr>
            </a:tbl>
          </a:graphicData>
        </a:graphic>
      </p:graphicFrame>
      <p:sp>
        <p:nvSpPr>
          <p:cNvPr id="405" name="Google Shape;405;p25"/>
          <p:cNvSpPr txBox="1"/>
          <p:nvPr/>
        </p:nvSpPr>
        <p:spPr>
          <a:xfrm>
            <a:off x="430050" y="4417200"/>
            <a:ext cx="8283900" cy="6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latin typeface="Nunito"/>
                <a:ea typeface="Nunito"/>
                <a:cs typeface="Nunito"/>
                <a:sym typeface="Nunito"/>
              </a:rPr>
              <a:t>Result:</a:t>
            </a:r>
            <a:r>
              <a:rPr lang="en" sz="1100">
                <a:solidFill>
                  <a:schemeClr val="dk2"/>
                </a:solidFill>
                <a:latin typeface="Nunito"/>
                <a:ea typeface="Nunito"/>
                <a:cs typeface="Nunito"/>
                <a:sym typeface="Nunito"/>
              </a:rPr>
              <a:t> With the exception of average residual being slightly better in decision tree model and multivariate-PCA, the random forest had the best model performance statistics. It is the strongest of the fitted models for predicting number of rides taken per day.</a:t>
            </a:r>
            <a:endParaRPr sz="1100">
              <a:solidFill>
                <a:schemeClr val="dk2"/>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grpSp>
        <p:nvGrpSpPr>
          <p:cNvPr id="410" name="Google Shape;410;p26"/>
          <p:cNvGrpSpPr/>
          <p:nvPr/>
        </p:nvGrpSpPr>
        <p:grpSpPr>
          <a:xfrm>
            <a:off x="338904" y="1498350"/>
            <a:ext cx="8466190" cy="3416400"/>
            <a:chOff x="431925" y="1304875"/>
            <a:chExt cx="2628925" cy="3416400"/>
          </a:xfrm>
        </p:grpSpPr>
        <p:sp>
          <p:nvSpPr>
            <p:cNvPr id="411" name="Google Shape;411;p26"/>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6"/>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3" name="Google Shape;413;p26"/>
          <p:cNvSpPr txBox="1">
            <a:spLocks noGrp="1"/>
          </p:cNvSpPr>
          <p:nvPr>
            <p:ph type="body" idx="4294967295"/>
          </p:nvPr>
        </p:nvSpPr>
        <p:spPr>
          <a:xfrm>
            <a:off x="4350475" y="2056075"/>
            <a:ext cx="4372800" cy="2794800"/>
          </a:xfrm>
          <a:prstGeom prst="rect">
            <a:avLst/>
          </a:prstGeom>
        </p:spPr>
        <p:txBody>
          <a:bodyPr spcFirstLastPara="1" wrap="square" lIns="91425" tIns="91425" rIns="91425" bIns="91425" anchor="t" anchorCtr="0">
            <a:normAutofit/>
          </a:bodyPr>
          <a:lstStyle/>
          <a:p>
            <a:pPr marL="457200" lvl="0" indent="-314960" algn="l" rtl="0">
              <a:spcBef>
                <a:spcPts val="0"/>
              </a:spcBef>
              <a:spcAft>
                <a:spcPts val="0"/>
              </a:spcAft>
              <a:buSzPct val="100000"/>
              <a:buChar char="●"/>
            </a:pPr>
            <a:r>
              <a:rPr lang="en" sz="1200" dirty="0"/>
              <a:t>Trained different model types using features: </a:t>
            </a:r>
            <a:endParaRPr sz="1200" dirty="0"/>
          </a:p>
          <a:p>
            <a:pPr marL="914400" lvl="1" indent="-314960" algn="l" rtl="0">
              <a:spcBef>
                <a:spcPts val="0"/>
              </a:spcBef>
              <a:spcAft>
                <a:spcPts val="0"/>
              </a:spcAft>
              <a:buSzPct val="100000"/>
              <a:buChar char="○"/>
            </a:pPr>
            <a:r>
              <a:rPr lang="en" sz="1200" dirty="0"/>
              <a:t>day of the week</a:t>
            </a:r>
            <a:endParaRPr sz="1200" dirty="0"/>
          </a:p>
          <a:p>
            <a:pPr marL="914400" lvl="1" indent="-314960" algn="l" rtl="0">
              <a:spcBef>
                <a:spcPts val="0"/>
              </a:spcBef>
              <a:spcAft>
                <a:spcPts val="0"/>
              </a:spcAft>
              <a:buSzPct val="100000"/>
              <a:buChar char="○"/>
            </a:pPr>
            <a:r>
              <a:rPr lang="en" sz="1200" dirty="0"/>
              <a:t>precipitation and snow</a:t>
            </a:r>
            <a:endParaRPr sz="1200" dirty="0"/>
          </a:p>
          <a:p>
            <a:pPr marL="914400" lvl="1" indent="-314960" algn="l" rtl="0">
              <a:spcBef>
                <a:spcPts val="0"/>
              </a:spcBef>
              <a:spcAft>
                <a:spcPts val="0"/>
              </a:spcAft>
              <a:buSzPct val="100000"/>
              <a:buChar char="○"/>
            </a:pPr>
            <a:r>
              <a:rPr lang="en" sz="1200" dirty="0"/>
              <a:t>region of Columbus</a:t>
            </a:r>
            <a:endParaRPr sz="1200" dirty="0"/>
          </a:p>
          <a:p>
            <a:pPr marL="914400" lvl="1" indent="-314960" algn="l" rtl="0">
              <a:spcBef>
                <a:spcPts val="0"/>
              </a:spcBef>
              <a:spcAft>
                <a:spcPts val="0"/>
              </a:spcAft>
              <a:buSzPct val="100000"/>
              <a:buChar char="○"/>
            </a:pPr>
            <a:r>
              <a:rPr lang="en" sz="1200" dirty="0"/>
              <a:t>season</a:t>
            </a:r>
            <a:endParaRPr sz="1200" dirty="0"/>
          </a:p>
          <a:p>
            <a:pPr marL="914400" lvl="1" indent="-314960" algn="l" rtl="0">
              <a:spcBef>
                <a:spcPts val="0"/>
              </a:spcBef>
              <a:spcAft>
                <a:spcPts val="0"/>
              </a:spcAft>
              <a:buSzPct val="100000"/>
              <a:buChar char="○"/>
            </a:pPr>
            <a:r>
              <a:rPr lang="en" sz="1200" dirty="0"/>
              <a:t>average temperature</a:t>
            </a:r>
            <a:endParaRPr sz="1200" dirty="0"/>
          </a:p>
          <a:p>
            <a:pPr marL="914400" lvl="1" indent="-314960" algn="l" rtl="0">
              <a:spcBef>
                <a:spcPts val="0"/>
              </a:spcBef>
              <a:spcAft>
                <a:spcPts val="0"/>
              </a:spcAft>
              <a:buSzPct val="100000"/>
              <a:buChar char="○"/>
            </a:pPr>
            <a:r>
              <a:rPr lang="en" sz="1200" dirty="0"/>
              <a:t>CoGo membership status</a:t>
            </a:r>
            <a:endParaRPr sz="1200" dirty="0"/>
          </a:p>
          <a:p>
            <a:pPr marL="914400" lvl="1" indent="-314960" algn="l" rtl="0">
              <a:spcBef>
                <a:spcPts val="0"/>
              </a:spcBef>
              <a:spcAft>
                <a:spcPts val="0"/>
              </a:spcAft>
              <a:buSzPct val="100000"/>
              <a:buChar char="○"/>
            </a:pPr>
            <a:r>
              <a:rPr lang="en" sz="1200" dirty="0"/>
              <a:t>Bike type (classic</a:t>
            </a:r>
            <a:endParaRPr sz="1200" dirty="0"/>
          </a:p>
          <a:p>
            <a:pPr marL="457200" lvl="0" indent="-314960" algn="l" rtl="0">
              <a:spcBef>
                <a:spcPts val="0"/>
              </a:spcBef>
              <a:spcAft>
                <a:spcPts val="0"/>
              </a:spcAft>
              <a:buSzPct val="100000"/>
              <a:buChar char="●"/>
            </a:pPr>
            <a:r>
              <a:rPr lang="en" sz="1200" b="1" dirty="0"/>
              <a:t>Target</a:t>
            </a:r>
            <a:r>
              <a:rPr lang="en" sz="1200" dirty="0"/>
              <a:t>: trip duration</a:t>
            </a:r>
            <a:endParaRPr sz="1200" dirty="0"/>
          </a:p>
          <a:p>
            <a:pPr marL="457200" lvl="0" indent="-314960" algn="l" rtl="0">
              <a:spcBef>
                <a:spcPts val="0"/>
              </a:spcBef>
              <a:spcAft>
                <a:spcPts val="0"/>
              </a:spcAft>
              <a:buSzPct val="100000"/>
              <a:buChar char="●"/>
            </a:pPr>
            <a:r>
              <a:rPr lang="en" sz="1200" dirty="0"/>
              <a:t>Models tested: </a:t>
            </a:r>
            <a:r>
              <a:rPr lang="en" sz="1200" b="1" dirty="0"/>
              <a:t>multiple linear regression, KNN regression, and decision trees (random forest)</a:t>
            </a:r>
            <a:endParaRPr sz="1200" b="1" dirty="0"/>
          </a:p>
        </p:txBody>
      </p:sp>
      <p:sp>
        <p:nvSpPr>
          <p:cNvPr id="414" name="Google Shape;414;p26"/>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Predictive Modeling</a:t>
            </a:r>
            <a:endParaRPr/>
          </a:p>
        </p:txBody>
      </p:sp>
      <p:sp>
        <p:nvSpPr>
          <p:cNvPr id="415" name="Google Shape;415;p26"/>
          <p:cNvSpPr txBox="1">
            <a:spLocks noGrp="1"/>
          </p:cNvSpPr>
          <p:nvPr>
            <p:ph type="body" idx="4294967295"/>
          </p:nvPr>
        </p:nvSpPr>
        <p:spPr>
          <a:xfrm>
            <a:off x="506425" y="15428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Q2. Predictive Modeling of Trip Duration</a:t>
            </a:r>
            <a:endParaRPr>
              <a:solidFill>
                <a:schemeClr val="lt1"/>
              </a:solidFill>
            </a:endParaRPr>
          </a:p>
        </p:txBody>
      </p:sp>
      <p:sp>
        <p:nvSpPr>
          <p:cNvPr id="416" name="Google Shape;416;p26"/>
          <p:cNvSpPr txBox="1">
            <a:spLocks noGrp="1"/>
          </p:cNvSpPr>
          <p:nvPr>
            <p:ph type="body" idx="4294967295"/>
          </p:nvPr>
        </p:nvSpPr>
        <p:spPr>
          <a:xfrm>
            <a:off x="508325" y="2088225"/>
            <a:ext cx="3679200" cy="2794800"/>
          </a:xfrm>
          <a:prstGeom prst="rect">
            <a:avLst/>
          </a:prstGeom>
        </p:spPr>
        <p:txBody>
          <a:bodyPr spcFirstLastPara="1" wrap="square" lIns="91425" tIns="91425" rIns="91425" bIns="91425" anchor="t" anchorCtr="0">
            <a:normAutofit fontScale="77500" lnSpcReduction="20000"/>
          </a:bodyPr>
          <a:lstStyle/>
          <a:p>
            <a:pPr marL="457200" lvl="0" indent="-314960" algn="l" rtl="0">
              <a:spcBef>
                <a:spcPts val="0"/>
              </a:spcBef>
              <a:spcAft>
                <a:spcPts val="0"/>
              </a:spcAft>
              <a:buSzPct val="100000"/>
              <a:buChar char="●"/>
            </a:pPr>
            <a:r>
              <a:rPr lang="en" sz="1600" b="1" dirty="0"/>
              <a:t>Research question</a:t>
            </a:r>
            <a:r>
              <a:rPr lang="en" sz="1600" dirty="0"/>
              <a:t>: Based on the start region, day of the week, and rider type (member/casual), how long will the trip likely last?</a:t>
            </a:r>
            <a:endParaRPr sz="1600" dirty="0"/>
          </a:p>
          <a:p>
            <a:pPr marL="457200" lvl="0" indent="-314960" algn="l" rtl="0">
              <a:spcBef>
                <a:spcPts val="0"/>
              </a:spcBef>
              <a:spcAft>
                <a:spcPts val="0"/>
              </a:spcAft>
              <a:buSzPct val="100000"/>
              <a:buChar char="●"/>
            </a:pPr>
            <a:r>
              <a:rPr lang="en" sz="1600" b="1" dirty="0"/>
              <a:t>Purpose</a:t>
            </a:r>
            <a:r>
              <a:rPr lang="en" sz="1600" dirty="0"/>
              <a:t>: Helps understand ride habits and predict maintenance requirements and customer experience.</a:t>
            </a:r>
            <a:endParaRPr sz="1600" dirty="0"/>
          </a:p>
          <a:p>
            <a:pPr marL="457200" lvl="0" indent="-314960" algn="l" rtl="0">
              <a:spcBef>
                <a:spcPts val="0"/>
              </a:spcBef>
              <a:spcAft>
                <a:spcPts val="0"/>
              </a:spcAft>
              <a:buSzPct val="100000"/>
              <a:buChar char="●"/>
            </a:pPr>
            <a:r>
              <a:rPr lang="en" sz="1600" b="1" dirty="0"/>
              <a:t>Business Value: </a:t>
            </a:r>
            <a:r>
              <a:rPr lang="en" sz="1600" dirty="0"/>
              <a:t>This helps CoGo proactively account for possible restock needed at a given station, and potentially maintenance demands since long rides likely put more strain on bike allocation.</a:t>
            </a:r>
            <a:endParaRPr sz="1600" dirty="0"/>
          </a:p>
        </p:txBody>
      </p:sp>
      <p:grpSp>
        <p:nvGrpSpPr>
          <p:cNvPr id="417" name="Google Shape;417;p26"/>
          <p:cNvGrpSpPr/>
          <p:nvPr/>
        </p:nvGrpSpPr>
        <p:grpSpPr>
          <a:xfrm>
            <a:off x="357689" y="760476"/>
            <a:ext cx="5074846" cy="666901"/>
            <a:chOff x="431925" y="760473"/>
            <a:chExt cx="3033925" cy="666901"/>
          </a:xfrm>
        </p:grpSpPr>
        <p:sp>
          <p:nvSpPr>
            <p:cNvPr id="418" name="Google Shape;418;p26"/>
            <p:cNvSpPr/>
            <p:nvPr/>
          </p:nvSpPr>
          <p:spPr>
            <a:xfrm>
              <a:off x="431950" y="760474"/>
              <a:ext cx="3033900" cy="666900"/>
            </a:xfrm>
            <a:prstGeom prst="rect">
              <a:avLst/>
            </a:prstGeom>
            <a:noFill/>
            <a:ln w="9525" cap="flat" cmpd="sng">
              <a:solidFill>
                <a:schemeClr val="dk1"/>
              </a:solidFill>
              <a:prstDash val="solid"/>
              <a:round/>
              <a:headEnd type="none" w="sm" len="sm"/>
              <a:tailEnd type="none" w="sm" len="sm"/>
            </a:ln>
          </p:spPr>
          <p:txBody>
            <a:bodyPr spcFirstLastPara="1" wrap="square" lIns="105500" tIns="105500" rIns="105500" bIns="105500"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sz="1000">
                  <a:latin typeface="Nunito"/>
                  <a:ea typeface="Nunito"/>
                  <a:cs typeface="Nunito"/>
                  <a:sym typeface="Nunito"/>
                </a:rPr>
                <a:t>Temporal: Train models on 2022 - 2023, test on 2024</a:t>
              </a:r>
              <a:endParaRPr sz="1000">
                <a:latin typeface="Nunito"/>
                <a:ea typeface="Nunito"/>
                <a:cs typeface="Nunito"/>
                <a:sym typeface="Nunito"/>
              </a:endParaRPr>
            </a:p>
          </p:txBody>
        </p:sp>
        <p:sp>
          <p:nvSpPr>
            <p:cNvPr id="419" name="Google Shape;419;p26"/>
            <p:cNvSpPr txBox="1"/>
            <p:nvPr/>
          </p:nvSpPr>
          <p:spPr>
            <a:xfrm>
              <a:off x="431925" y="760473"/>
              <a:ext cx="3033900" cy="329700"/>
            </a:xfrm>
            <a:prstGeom prst="rect">
              <a:avLst/>
            </a:prstGeom>
            <a:solidFill>
              <a:schemeClr val="dk1"/>
            </a:solidFill>
            <a:ln>
              <a:noFill/>
            </a:ln>
          </p:spPr>
          <p:txBody>
            <a:bodyPr spcFirstLastPara="1" wrap="square" lIns="105500" tIns="105500" rIns="105500" bIns="105500" anchor="ctr" anchorCtr="0">
              <a:noAutofit/>
            </a:bodyPr>
            <a:lstStyle/>
            <a:p>
              <a:pPr marL="0" lvl="0" indent="0" algn="l" rtl="0">
                <a:lnSpc>
                  <a:spcPct val="115000"/>
                </a:lnSpc>
                <a:spcBef>
                  <a:spcPts val="0"/>
                </a:spcBef>
                <a:spcAft>
                  <a:spcPts val="0"/>
                </a:spcAft>
                <a:buNone/>
              </a:pPr>
              <a:r>
                <a:rPr lang="en" sz="1300">
                  <a:solidFill>
                    <a:schemeClr val="lt1"/>
                  </a:solidFill>
                  <a:latin typeface="Nunito"/>
                  <a:ea typeface="Nunito"/>
                  <a:cs typeface="Nunito"/>
                  <a:sym typeface="Nunito"/>
                </a:rPr>
                <a:t>Validation Design</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grpSp>
        <p:nvGrpSpPr>
          <p:cNvPr id="424" name="Google Shape;424;p27"/>
          <p:cNvGrpSpPr/>
          <p:nvPr/>
        </p:nvGrpSpPr>
        <p:grpSpPr>
          <a:xfrm>
            <a:off x="357675" y="863675"/>
            <a:ext cx="8466075" cy="4242858"/>
            <a:chOff x="338904" y="1490941"/>
            <a:chExt cx="8466075" cy="3386700"/>
          </a:xfrm>
        </p:grpSpPr>
        <p:sp>
          <p:nvSpPr>
            <p:cNvPr id="425" name="Google Shape;425;p27"/>
            <p:cNvSpPr txBox="1"/>
            <p:nvPr/>
          </p:nvSpPr>
          <p:spPr>
            <a:xfrm>
              <a:off x="338904" y="1498350"/>
              <a:ext cx="84660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7"/>
            <p:cNvSpPr/>
            <p:nvPr/>
          </p:nvSpPr>
          <p:spPr>
            <a:xfrm>
              <a:off x="338978" y="1490941"/>
              <a:ext cx="8466000" cy="3386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7" name="Google Shape;427;p27"/>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Predictive Modeling</a:t>
            </a:r>
            <a:endParaRPr/>
          </a:p>
        </p:txBody>
      </p:sp>
      <p:sp>
        <p:nvSpPr>
          <p:cNvPr id="428" name="Google Shape;428;p27"/>
          <p:cNvSpPr txBox="1">
            <a:spLocks noGrp="1"/>
          </p:cNvSpPr>
          <p:nvPr>
            <p:ph type="body" idx="4294967295"/>
          </p:nvPr>
        </p:nvSpPr>
        <p:spPr>
          <a:xfrm>
            <a:off x="395250" y="9080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Q2. Predictive Modeling of Trip Duration</a:t>
            </a:r>
            <a:endParaRPr>
              <a:solidFill>
                <a:schemeClr val="lt1"/>
              </a:solidFill>
            </a:endParaRPr>
          </a:p>
        </p:txBody>
      </p:sp>
      <p:graphicFrame>
        <p:nvGraphicFramePr>
          <p:cNvPr id="429" name="Google Shape;429;p27"/>
          <p:cNvGraphicFramePr/>
          <p:nvPr/>
        </p:nvGraphicFramePr>
        <p:xfrm>
          <a:off x="622700" y="1562100"/>
          <a:ext cx="7986825" cy="2317225"/>
        </p:xfrm>
        <a:graphic>
          <a:graphicData uri="http://schemas.openxmlformats.org/drawingml/2006/table">
            <a:tbl>
              <a:tblPr>
                <a:noFill/>
                <a:tableStyleId>{31CFE100-5331-4432-B5D4-83C2F04BC905}</a:tableStyleId>
              </a:tblPr>
              <a:tblGrid>
                <a:gridCol w="2662275">
                  <a:extLst>
                    <a:ext uri="{9D8B030D-6E8A-4147-A177-3AD203B41FA5}">
                      <a16:colId xmlns:a16="http://schemas.microsoft.com/office/drawing/2014/main" val="20000"/>
                    </a:ext>
                  </a:extLst>
                </a:gridCol>
                <a:gridCol w="2662275">
                  <a:extLst>
                    <a:ext uri="{9D8B030D-6E8A-4147-A177-3AD203B41FA5}">
                      <a16:colId xmlns:a16="http://schemas.microsoft.com/office/drawing/2014/main" val="20001"/>
                    </a:ext>
                  </a:extLst>
                </a:gridCol>
                <a:gridCol w="2662275">
                  <a:extLst>
                    <a:ext uri="{9D8B030D-6E8A-4147-A177-3AD203B41FA5}">
                      <a16:colId xmlns:a16="http://schemas.microsoft.com/office/drawing/2014/main" val="20002"/>
                    </a:ext>
                  </a:extLst>
                </a:gridCol>
              </a:tblGrid>
              <a:tr h="433700">
                <a:tc>
                  <a:txBody>
                    <a:bodyPr/>
                    <a:lstStyle/>
                    <a:p>
                      <a:pPr marL="0" lvl="0" indent="0" algn="l" rtl="0">
                        <a:spcBef>
                          <a:spcPts val="0"/>
                        </a:spcBef>
                        <a:spcAft>
                          <a:spcPts val="0"/>
                        </a:spcAft>
                        <a:buNone/>
                      </a:pPr>
                      <a:r>
                        <a:rPr lang="en" sz="1200" b="1"/>
                        <a:t>Model</a:t>
                      </a:r>
                      <a:endParaRPr sz="1200" b="1"/>
                    </a:p>
                  </a:txBody>
                  <a:tcPr marL="91425" marR="91425" marT="91425" marB="91425"/>
                </a:tc>
                <a:tc>
                  <a:txBody>
                    <a:bodyPr/>
                    <a:lstStyle/>
                    <a:p>
                      <a:pPr marL="0" lvl="0" indent="0" algn="l" rtl="0">
                        <a:spcBef>
                          <a:spcPts val="0"/>
                        </a:spcBef>
                        <a:spcAft>
                          <a:spcPts val="0"/>
                        </a:spcAft>
                        <a:buNone/>
                      </a:pPr>
                      <a:r>
                        <a:rPr lang="en" sz="1200" b="1"/>
                        <a:t>RMSE</a:t>
                      </a:r>
                      <a:endParaRPr sz="1200" b="1"/>
                    </a:p>
                  </a:txBody>
                  <a:tcPr marL="91425" marR="91425" marT="91425" marB="91425"/>
                </a:tc>
                <a:tc>
                  <a:txBody>
                    <a:bodyPr/>
                    <a:lstStyle/>
                    <a:p>
                      <a:pPr marL="0" lvl="0" indent="0" algn="l" rtl="0">
                        <a:spcBef>
                          <a:spcPts val="0"/>
                        </a:spcBef>
                        <a:spcAft>
                          <a:spcPts val="0"/>
                        </a:spcAft>
                        <a:buNone/>
                      </a:pPr>
                      <a:r>
                        <a:rPr lang="en" sz="1200" b="1"/>
                        <a:t>MAPE</a:t>
                      </a:r>
                      <a:endParaRPr sz="1200" b="1"/>
                    </a:p>
                  </a:txBody>
                  <a:tcPr marL="91425" marR="91425" marT="91425" marB="91425"/>
                </a:tc>
                <a:extLst>
                  <a:ext uri="{0D108BD9-81ED-4DB2-BD59-A6C34878D82A}">
                    <a16:rowId xmlns:a16="http://schemas.microsoft.com/office/drawing/2014/main" val="10000"/>
                  </a:ext>
                </a:extLst>
              </a:tr>
              <a:tr h="582425">
                <a:tc>
                  <a:txBody>
                    <a:bodyPr/>
                    <a:lstStyle/>
                    <a:p>
                      <a:pPr marL="0" lvl="0" indent="0" algn="l" rtl="0">
                        <a:spcBef>
                          <a:spcPts val="0"/>
                        </a:spcBef>
                        <a:spcAft>
                          <a:spcPts val="0"/>
                        </a:spcAft>
                        <a:buNone/>
                      </a:pPr>
                      <a:r>
                        <a:rPr lang="en" sz="1200"/>
                        <a:t>Multiple Regression</a:t>
                      </a:r>
                      <a:endParaRPr sz="1200"/>
                    </a:p>
                  </a:txBody>
                  <a:tcPr marL="91425" marR="91425" marT="91425" marB="91425"/>
                </a:tc>
                <a:tc>
                  <a:txBody>
                    <a:bodyPr/>
                    <a:lstStyle/>
                    <a:p>
                      <a:pPr marL="0" lvl="0" indent="0" algn="l" rtl="0">
                        <a:spcBef>
                          <a:spcPts val="0"/>
                        </a:spcBef>
                        <a:spcAft>
                          <a:spcPts val="0"/>
                        </a:spcAft>
                        <a:buNone/>
                      </a:pPr>
                      <a:r>
                        <a:rPr lang="en" sz="1200"/>
                        <a:t>13.07 </a:t>
                      </a:r>
                      <a:endParaRPr sz="1200"/>
                    </a:p>
                  </a:txBody>
                  <a:tcPr marL="91425" marR="91425" marT="91425" marB="91425"/>
                </a:tc>
                <a:tc>
                  <a:txBody>
                    <a:bodyPr/>
                    <a:lstStyle/>
                    <a:p>
                      <a:pPr marL="0" lvl="0" indent="0" algn="l" rtl="0">
                        <a:spcBef>
                          <a:spcPts val="0"/>
                        </a:spcBef>
                        <a:spcAft>
                          <a:spcPts val="0"/>
                        </a:spcAft>
                        <a:buNone/>
                      </a:pPr>
                      <a:r>
                        <a:rPr lang="en" sz="1200"/>
                        <a:t>253%</a:t>
                      </a:r>
                      <a:endParaRPr sz="1200"/>
                    </a:p>
                  </a:txBody>
                  <a:tcPr marL="91425" marR="91425" marT="91425" marB="91425"/>
                </a:tc>
                <a:extLst>
                  <a:ext uri="{0D108BD9-81ED-4DB2-BD59-A6C34878D82A}">
                    <a16:rowId xmlns:a16="http://schemas.microsoft.com/office/drawing/2014/main" val="10001"/>
                  </a:ext>
                </a:extLst>
              </a:tr>
              <a:tr h="433700">
                <a:tc>
                  <a:txBody>
                    <a:bodyPr/>
                    <a:lstStyle/>
                    <a:p>
                      <a:pPr marL="0" lvl="0" indent="0" algn="l" rtl="0">
                        <a:spcBef>
                          <a:spcPts val="0"/>
                        </a:spcBef>
                        <a:spcAft>
                          <a:spcPts val="0"/>
                        </a:spcAft>
                        <a:buNone/>
                      </a:pPr>
                      <a:r>
                        <a:rPr lang="en" sz="1200"/>
                        <a:t>KNN</a:t>
                      </a:r>
                      <a:endParaRPr sz="1200"/>
                    </a:p>
                  </a:txBody>
                  <a:tcPr marL="91425" marR="91425" marT="91425" marB="91425"/>
                </a:tc>
                <a:tc>
                  <a:txBody>
                    <a:bodyPr/>
                    <a:lstStyle/>
                    <a:p>
                      <a:pPr marL="0" lvl="0" indent="0" algn="l" rtl="0">
                        <a:spcBef>
                          <a:spcPts val="0"/>
                        </a:spcBef>
                        <a:spcAft>
                          <a:spcPts val="0"/>
                        </a:spcAft>
                        <a:buNone/>
                      </a:pPr>
                      <a:r>
                        <a:rPr lang="en" sz="1200"/>
                        <a:t>11.93</a:t>
                      </a:r>
                      <a:endParaRPr sz="1200"/>
                    </a:p>
                  </a:txBody>
                  <a:tcPr marL="91425" marR="91425" marT="91425" marB="91425"/>
                </a:tc>
                <a:tc>
                  <a:txBody>
                    <a:bodyPr/>
                    <a:lstStyle/>
                    <a:p>
                      <a:pPr marL="0" lvl="0" indent="0" algn="l" rtl="0">
                        <a:spcBef>
                          <a:spcPts val="0"/>
                        </a:spcBef>
                        <a:spcAft>
                          <a:spcPts val="0"/>
                        </a:spcAft>
                        <a:buNone/>
                      </a:pPr>
                      <a:r>
                        <a:rPr lang="en" sz="1200"/>
                        <a:t>283%</a:t>
                      </a:r>
                      <a:endParaRPr sz="1200"/>
                    </a:p>
                  </a:txBody>
                  <a:tcPr marL="91425" marR="91425" marT="91425" marB="91425"/>
                </a:tc>
                <a:extLst>
                  <a:ext uri="{0D108BD9-81ED-4DB2-BD59-A6C34878D82A}">
                    <a16:rowId xmlns:a16="http://schemas.microsoft.com/office/drawing/2014/main" val="10002"/>
                  </a:ext>
                </a:extLst>
              </a:tr>
              <a:tr h="433700">
                <a:tc>
                  <a:txBody>
                    <a:bodyPr/>
                    <a:lstStyle/>
                    <a:p>
                      <a:pPr marL="0" lvl="0" indent="0" algn="l" rtl="0">
                        <a:spcBef>
                          <a:spcPts val="0"/>
                        </a:spcBef>
                        <a:spcAft>
                          <a:spcPts val="0"/>
                        </a:spcAft>
                        <a:buNone/>
                      </a:pPr>
                      <a:r>
                        <a:rPr lang="en" sz="1200"/>
                        <a:t>Decision tree</a:t>
                      </a:r>
                      <a:endParaRPr sz="1200"/>
                    </a:p>
                  </a:txBody>
                  <a:tcPr marL="91425" marR="91425" marT="91425" marB="91425"/>
                </a:tc>
                <a:tc>
                  <a:txBody>
                    <a:bodyPr/>
                    <a:lstStyle/>
                    <a:p>
                      <a:pPr marL="0" lvl="0" indent="0" algn="l" rtl="0">
                        <a:spcBef>
                          <a:spcPts val="0"/>
                        </a:spcBef>
                        <a:spcAft>
                          <a:spcPts val="0"/>
                        </a:spcAft>
                        <a:buNone/>
                      </a:pPr>
                      <a:r>
                        <a:rPr lang="en" sz="1200"/>
                        <a:t>15.43</a:t>
                      </a:r>
                      <a:endParaRPr sz="1200"/>
                    </a:p>
                  </a:txBody>
                  <a:tcPr marL="91425" marR="91425" marT="91425" marB="91425"/>
                </a:tc>
                <a:tc>
                  <a:txBody>
                    <a:bodyPr/>
                    <a:lstStyle/>
                    <a:p>
                      <a:pPr marL="0" lvl="0" indent="0" algn="l" rtl="0">
                        <a:spcBef>
                          <a:spcPts val="0"/>
                        </a:spcBef>
                        <a:spcAft>
                          <a:spcPts val="0"/>
                        </a:spcAft>
                        <a:buNone/>
                      </a:pPr>
                      <a:r>
                        <a:rPr lang="en" sz="1200"/>
                        <a:t>268%</a:t>
                      </a:r>
                      <a:endParaRPr sz="1200"/>
                    </a:p>
                  </a:txBody>
                  <a:tcPr marL="91425" marR="91425" marT="91425" marB="91425"/>
                </a:tc>
                <a:extLst>
                  <a:ext uri="{0D108BD9-81ED-4DB2-BD59-A6C34878D82A}">
                    <a16:rowId xmlns:a16="http://schemas.microsoft.com/office/drawing/2014/main" val="10003"/>
                  </a:ext>
                </a:extLst>
              </a:tr>
              <a:tr h="433700">
                <a:tc>
                  <a:txBody>
                    <a:bodyPr/>
                    <a:lstStyle/>
                    <a:p>
                      <a:pPr marL="0" lvl="0" indent="0" algn="l" rtl="0">
                        <a:spcBef>
                          <a:spcPts val="0"/>
                        </a:spcBef>
                        <a:spcAft>
                          <a:spcPts val="0"/>
                        </a:spcAft>
                        <a:buNone/>
                      </a:pPr>
                      <a:r>
                        <a:rPr lang="en" sz="1200"/>
                        <a:t>Random forest</a:t>
                      </a:r>
                      <a:endParaRPr sz="1200"/>
                    </a:p>
                  </a:txBody>
                  <a:tcPr marL="91425" marR="91425" marT="91425" marB="91425"/>
                </a:tc>
                <a:tc>
                  <a:txBody>
                    <a:bodyPr/>
                    <a:lstStyle/>
                    <a:p>
                      <a:pPr marL="0" lvl="0" indent="0" algn="l" rtl="0">
                        <a:spcBef>
                          <a:spcPts val="0"/>
                        </a:spcBef>
                        <a:spcAft>
                          <a:spcPts val="0"/>
                        </a:spcAft>
                        <a:buNone/>
                      </a:pPr>
                      <a:r>
                        <a:rPr lang="en" sz="1200"/>
                        <a:t>12.20</a:t>
                      </a:r>
                      <a:endParaRPr sz="1200"/>
                    </a:p>
                  </a:txBody>
                  <a:tcPr marL="91425" marR="91425" marT="91425" marB="91425"/>
                </a:tc>
                <a:tc>
                  <a:txBody>
                    <a:bodyPr/>
                    <a:lstStyle/>
                    <a:p>
                      <a:pPr marL="0" lvl="0" indent="0" algn="l" rtl="0">
                        <a:spcBef>
                          <a:spcPts val="0"/>
                        </a:spcBef>
                        <a:spcAft>
                          <a:spcPts val="0"/>
                        </a:spcAft>
                        <a:buNone/>
                      </a:pPr>
                      <a:r>
                        <a:rPr lang="en" sz="1200"/>
                        <a:t>254%</a:t>
                      </a:r>
                      <a:endParaRPr sz="1200"/>
                    </a:p>
                  </a:txBody>
                  <a:tcPr marL="91425" marR="91425" marT="91425" marB="91425"/>
                </a:tc>
                <a:extLst>
                  <a:ext uri="{0D108BD9-81ED-4DB2-BD59-A6C34878D82A}">
                    <a16:rowId xmlns:a16="http://schemas.microsoft.com/office/drawing/2014/main" val="10004"/>
                  </a:ext>
                </a:extLst>
              </a:tr>
            </a:tbl>
          </a:graphicData>
        </a:graphic>
      </p:graphicFrame>
      <p:sp>
        <p:nvSpPr>
          <p:cNvPr id="430" name="Google Shape;430;p27"/>
          <p:cNvSpPr txBox="1"/>
          <p:nvPr/>
        </p:nvSpPr>
        <p:spPr>
          <a:xfrm>
            <a:off x="474163" y="4072025"/>
            <a:ext cx="8283900" cy="6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2"/>
                </a:solidFill>
                <a:latin typeface="Nunito"/>
                <a:ea typeface="Nunito"/>
                <a:cs typeface="Nunito"/>
                <a:sym typeface="Nunito"/>
              </a:rPr>
              <a:t>Result:</a:t>
            </a:r>
            <a:r>
              <a:rPr lang="en" sz="1200">
                <a:solidFill>
                  <a:schemeClr val="dk2"/>
                </a:solidFill>
                <a:latin typeface="Nunito"/>
                <a:ea typeface="Nunito"/>
                <a:cs typeface="Nunito"/>
                <a:sym typeface="Nunito"/>
              </a:rPr>
              <a:t> None of the models are they currently exist are recommended for use/deployment. While some performed better than others, the MAPE on the withheld 2024 test set is all 200%+ error, which may be worse than a simple average fit.</a:t>
            </a:r>
            <a:endParaRPr sz="1200">
              <a:solidFill>
                <a:schemeClr val="dk2"/>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grpSp>
        <p:nvGrpSpPr>
          <p:cNvPr id="435" name="Google Shape;435;p28"/>
          <p:cNvGrpSpPr/>
          <p:nvPr/>
        </p:nvGrpSpPr>
        <p:grpSpPr>
          <a:xfrm>
            <a:off x="338904" y="1498350"/>
            <a:ext cx="8466190" cy="3416400"/>
            <a:chOff x="431925" y="1304875"/>
            <a:chExt cx="2628925" cy="3416400"/>
          </a:xfrm>
        </p:grpSpPr>
        <p:sp>
          <p:nvSpPr>
            <p:cNvPr id="436" name="Google Shape;436;p28"/>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28"/>
          <p:cNvSpPr txBox="1">
            <a:spLocks noGrp="1"/>
          </p:cNvSpPr>
          <p:nvPr>
            <p:ph type="body" idx="4294967295"/>
          </p:nvPr>
        </p:nvSpPr>
        <p:spPr>
          <a:xfrm>
            <a:off x="4350475" y="2056075"/>
            <a:ext cx="4372800" cy="2794800"/>
          </a:xfrm>
          <a:prstGeom prst="rect">
            <a:avLst/>
          </a:prstGeom>
        </p:spPr>
        <p:txBody>
          <a:bodyPr spcFirstLastPara="1" wrap="square" lIns="91425" tIns="91425" rIns="91425" bIns="91425" anchor="t" anchorCtr="0">
            <a:normAutofit fontScale="77500" lnSpcReduction="20000"/>
          </a:bodyPr>
          <a:lstStyle/>
          <a:p>
            <a:pPr marL="457200" lvl="0" indent="-314960" algn="l" rtl="0">
              <a:spcBef>
                <a:spcPts val="0"/>
              </a:spcBef>
              <a:spcAft>
                <a:spcPts val="0"/>
              </a:spcAft>
              <a:buSzPct val="100000"/>
              <a:buChar char="●"/>
            </a:pPr>
            <a:r>
              <a:rPr lang="en" sz="1600" dirty="0"/>
              <a:t>Trained different model types using features: </a:t>
            </a:r>
            <a:endParaRPr sz="1600" dirty="0"/>
          </a:p>
          <a:p>
            <a:pPr marL="914400" lvl="1" indent="-314960" algn="l" rtl="0">
              <a:spcBef>
                <a:spcPts val="0"/>
              </a:spcBef>
              <a:spcAft>
                <a:spcPts val="0"/>
              </a:spcAft>
              <a:buSzPct val="100000"/>
              <a:buChar char="○"/>
            </a:pPr>
            <a:r>
              <a:rPr lang="en" sz="1600" dirty="0"/>
              <a:t>day of the week</a:t>
            </a:r>
            <a:endParaRPr sz="1600" dirty="0"/>
          </a:p>
          <a:p>
            <a:pPr marL="914400" lvl="1" indent="-314960" algn="l" rtl="0">
              <a:spcBef>
                <a:spcPts val="0"/>
              </a:spcBef>
              <a:spcAft>
                <a:spcPts val="0"/>
              </a:spcAft>
              <a:buSzPct val="100000"/>
              <a:buChar char="○"/>
            </a:pPr>
            <a:r>
              <a:rPr lang="en" sz="1600" dirty="0"/>
              <a:t>precipitation and snow</a:t>
            </a:r>
            <a:endParaRPr sz="1600" dirty="0"/>
          </a:p>
          <a:p>
            <a:pPr marL="914400" lvl="1" indent="-314960" algn="l" rtl="0">
              <a:spcBef>
                <a:spcPts val="0"/>
              </a:spcBef>
              <a:spcAft>
                <a:spcPts val="0"/>
              </a:spcAft>
              <a:buSzPct val="100000"/>
              <a:buChar char="○"/>
            </a:pPr>
            <a:r>
              <a:rPr lang="en" sz="1600" dirty="0"/>
              <a:t>region of Columbus</a:t>
            </a:r>
            <a:endParaRPr sz="1600" dirty="0"/>
          </a:p>
          <a:p>
            <a:pPr marL="914400" lvl="1" indent="-314960" algn="l" rtl="0">
              <a:spcBef>
                <a:spcPts val="0"/>
              </a:spcBef>
              <a:spcAft>
                <a:spcPts val="0"/>
              </a:spcAft>
              <a:buSzPct val="100000"/>
              <a:buChar char="○"/>
            </a:pPr>
            <a:r>
              <a:rPr lang="en" sz="1600" dirty="0"/>
              <a:t>season</a:t>
            </a:r>
            <a:endParaRPr sz="1600" dirty="0"/>
          </a:p>
          <a:p>
            <a:pPr marL="914400" lvl="1" indent="-314960" algn="l" rtl="0">
              <a:spcBef>
                <a:spcPts val="0"/>
              </a:spcBef>
              <a:spcAft>
                <a:spcPts val="0"/>
              </a:spcAft>
              <a:buSzPct val="100000"/>
              <a:buChar char="○"/>
            </a:pPr>
            <a:r>
              <a:rPr lang="en" sz="1600" dirty="0"/>
              <a:t>average temperature</a:t>
            </a:r>
            <a:endParaRPr sz="1600" dirty="0"/>
          </a:p>
          <a:p>
            <a:pPr marL="914400" lvl="1" indent="-314960" algn="l" rtl="0">
              <a:spcBef>
                <a:spcPts val="0"/>
              </a:spcBef>
              <a:spcAft>
                <a:spcPts val="0"/>
              </a:spcAft>
              <a:buSzPct val="100000"/>
              <a:buChar char="○"/>
            </a:pPr>
            <a:r>
              <a:rPr lang="en" sz="1600" dirty="0"/>
              <a:t>CoGo membership status</a:t>
            </a:r>
            <a:endParaRPr sz="1600" dirty="0"/>
          </a:p>
          <a:p>
            <a:pPr marL="914400" lvl="1" indent="-314960" algn="l" rtl="0">
              <a:spcBef>
                <a:spcPts val="0"/>
              </a:spcBef>
              <a:spcAft>
                <a:spcPts val="0"/>
              </a:spcAft>
              <a:buSzPct val="100000"/>
              <a:buChar char="○"/>
            </a:pPr>
            <a:r>
              <a:rPr lang="en" sz="1600" dirty="0"/>
              <a:t>distance traveled</a:t>
            </a:r>
            <a:endParaRPr sz="1600" dirty="0"/>
          </a:p>
          <a:p>
            <a:pPr marL="914400" lvl="1" indent="-314960" algn="l" rtl="0">
              <a:spcBef>
                <a:spcPts val="0"/>
              </a:spcBef>
              <a:spcAft>
                <a:spcPts val="0"/>
              </a:spcAft>
              <a:buSzPct val="100000"/>
              <a:buChar char="○"/>
            </a:pPr>
            <a:r>
              <a:rPr lang="en" sz="1600" dirty="0"/>
              <a:t>type of bicycle (classic, electric)</a:t>
            </a:r>
            <a:endParaRPr sz="1600" dirty="0"/>
          </a:p>
          <a:p>
            <a:pPr marL="457200" lvl="0" indent="-314960" algn="l" rtl="0">
              <a:spcBef>
                <a:spcPts val="0"/>
              </a:spcBef>
              <a:spcAft>
                <a:spcPts val="0"/>
              </a:spcAft>
              <a:buSzPct val="100000"/>
              <a:buChar char="●"/>
            </a:pPr>
            <a:r>
              <a:rPr lang="en" sz="1600" b="1" dirty="0"/>
              <a:t>Target</a:t>
            </a:r>
            <a:r>
              <a:rPr lang="en" sz="1600" dirty="0"/>
              <a:t>: membership status</a:t>
            </a:r>
            <a:endParaRPr sz="1600" dirty="0"/>
          </a:p>
          <a:p>
            <a:pPr marL="457200" lvl="0" indent="-314960" algn="l" rtl="0">
              <a:spcBef>
                <a:spcPts val="0"/>
              </a:spcBef>
              <a:spcAft>
                <a:spcPts val="0"/>
              </a:spcAft>
              <a:buSzPct val="100000"/>
              <a:buChar char="●"/>
            </a:pPr>
            <a:r>
              <a:rPr lang="en" sz="1600" dirty="0"/>
              <a:t>Models tested: </a:t>
            </a:r>
            <a:r>
              <a:rPr lang="en" sz="1600" b="1" dirty="0"/>
              <a:t>logistic regression, KNN classification, and decision trees (random forest)</a:t>
            </a:r>
            <a:endParaRPr sz="1600" b="1" dirty="0"/>
          </a:p>
        </p:txBody>
      </p:sp>
      <p:sp>
        <p:nvSpPr>
          <p:cNvPr id="439" name="Google Shape;439;p28"/>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Classification Modeling</a:t>
            </a:r>
            <a:endParaRPr/>
          </a:p>
        </p:txBody>
      </p:sp>
      <p:sp>
        <p:nvSpPr>
          <p:cNvPr id="440" name="Google Shape;440;p28"/>
          <p:cNvSpPr txBox="1">
            <a:spLocks noGrp="1"/>
          </p:cNvSpPr>
          <p:nvPr>
            <p:ph type="body" idx="4294967295"/>
          </p:nvPr>
        </p:nvSpPr>
        <p:spPr>
          <a:xfrm>
            <a:off x="506425" y="15428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Q3. Rider Behavior Segmentation</a:t>
            </a:r>
            <a:endParaRPr>
              <a:solidFill>
                <a:schemeClr val="lt1"/>
              </a:solidFill>
            </a:endParaRPr>
          </a:p>
        </p:txBody>
      </p:sp>
      <p:sp>
        <p:nvSpPr>
          <p:cNvPr id="441" name="Google Shape;441;p28"/>
          <p:cNvSpPr txBox="1">
            <a:spLocks noGrp="1"/>
          </p:cNvSpPr>
          <p:nvPr>
            <p:ph type="body" idx="4294967295"/>
          </p:nvPr>
        </p:nvSpPr>
        <p:spPr>
          <a:xfrm>
            <a:off x="508325" y="2088225"/>
            <a:ext cx="3679200" cy="2794800"/>
          </a:xfrm>
          <a:prstGeom prst="rect">
            <a:avLst/>
          </a:prstGeom>
        </p:spPr>
        <p:txBody>
          <a:bodyPr spcFirstLastPara="1" wrap="square" lIns="91425" tIns="91425" rIns="91425" bIns="91425" anchor="t" anchorCtr="0">
            <a:normAutofit fontScale="77500" lnSpcReduction="20000"/>
          </a:bodyPr>
          <a:lstStyle/>
          <a:p>
            <a:pPr marL="457200" lvl="0" indent="-314960" algn="l" rtl="0">
              <a:spcBef>
                <a:spcPts val="0"/>
              </a:spcBef>
              <a:spcAft>
                <a:spcPts val="0"/>
              </a:spcAft>
              <a:buSzPct val="100000"/>
              <a:buChar char="●"/>
            </a:pPr>
            <a:r>
              <a:rPr lang="en" sz="1600" b="1" dirty="0"/>
              <a:t>Research question</a:t>
            </a:r>
            <a:r>
              <a:rPr lang="en" sz="1600" dirty="0"/>
              <a:t>: Can we group riders into categories (e.g. daily commuters, leisure riders) based on when, where, and how they ride?</a:t>
            </a:r>
            <a:endParaRPr sz="1600" dirty="0"/>
          </a:p>
          <a:p>
            <a:pPr marL="457200" lvl="0" indent="-314960" algn="l" rtl="0">
              <a:spcBef>
                <a:spcPts val="0"/>
              </a:spcBef>
              <a:spcAft>
                <a:spcPts val="0"/>
              </a:spcAft>
              <a:buSzPct val="100000"/>
              <a:buChar char="●"/>
            </a:pPr>
            <a:r>
              <a:rPr lang="en" sz="1600" b="1" dirty="0"/>
              <a:t>Purpose: </a:t>
            </a:r>
            <a:r>
              <a:rPr lang="en" sz="1600" dirty="0"/>
              <a:t>Helps the company design better promotions and marketing (e.g., convert casual riders into members).</a:t>
            </a:r>
            <a:endParaRPr sz="1600" dirty="0"/>
          </a:p>
          <a:p>
            <a:pPr marL="457200" lvl="0" indent="-314960" algn="l" rtl="0">
              <a:spcBef>
                <a:spcPts val="0"/>
              </a:spcBef>
              <a:spcAft>
                <a:spcPts val="0"/>
              </a:spcAft>
              <a:buSzPct val="100000"/>
              <a:buChar char="●"/>
            </a:pPr>
            <a:r>
              <a:rPr lang="en" sz="1600" b="1" dirty="0"/>
              <a:t>Business Value: </a:t>
            </a:r>
            <a:r>
              <a:rPr lang="en" sz="1600" dirty="0"/>
              <a:t>This helps CoGo market to leisure riders to be interested in a membership, stabilizing long term demand and competitive edge.</a:t>
            </a:r>
            <a:endParaRPr sz="1600" dirty="0"/>
          </a:p>
          <a:p>
            <a:pPr marL="457200" lvl="0" indent="0" algn="l" rtl="0">
              <a:spcBef>
                <a:spcPts val="1200"/>
              </a:spcBef>
              <a:spcAft>
                <a:spcPts val="1200"/>
              </a:spcAft>
              <a:buNone/>
            </a:pPr>
            <a:endParaRPr sz="1600" b="1" dirty="0"/>
          </a:p>
        </p:txBody>
      </p:sp>
      <p:grpSp>
        <p:nvGrpSpPr>
          <p:cNvPr id="442" name="Google Shape;442;p28"/>
          <p:cNvGrpSpPr/>
          <p:nvPr/>
        </p:nvGrpSpPr>
        <p:grpSpPr>
          <a:xfrm>
            <a:off x="357689" y="760476"/>
            <a:ext cx="5074846" cy="666901"/>
            <a:chOff x="431925" y="760473"/>
            <a:chExt cx="3033925" cy="666901"/>
          </a:xfrm>
        </p:grpSpPr>
        <p:sp>
          <p:nvSpPr>
            <p:cNvPr id="443" name="Google Shape;443;p28"/>
            <p:cNvSpPr/>
            <p:nvPr/>
          </p:nvSpPr>
          <p:spPr>
            <a:xfrm>
              <a:off x="431950" y="760474"/>
              <a:ext cx="3033900" cy="666900"/>
            </a:xfrm>
            <a:prstGeom prst="rect">
              <a:avLst/>
            </a:prstGeom>
            <a:noFill/>
            <a:ln w="9525" cap="flat" cmpd="sng">
              <a:solidFill>
                <a:schemeClr val="dk1"/>
              </a:solidFill>
              <a:prstDash val="solid"/>
              <a:round/>
              <a:headEnd type="none" w="sm" len="sm"/>
              <a:tailEnd type="none" w="sm" len="sm"/>
            </a:ln>
          </p:spPr>
          <p:txBody>
            <a:bodyPr spcFirstLastPara="1" wrap="square" lIns="105500" tIns="105500" rIns="105500" bIns="105500"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sz="1000">
                  <a:latin typeface="Nunito"/>
                  <a:ea typeface="Nunito"/>
                  <a:cs typeface="Nunito"/>
                  <a:sym typeface="Nunito"/>
                </a:rPr>
                <a:t>Temporal: Train models on 2022 - 2023, test on 2024</a:t>
              </a:r>
              <a:endParaRPr sz="1000">
                <a:latin typeface="Nunito"/>
                <a:ea typeface="Nunito"/>
                <a:cs typeface="Nunito"/>
                <a:sym typeface="Nunito"/>
              </a:endParaRPr>
            </a:p>
          </p:txBody>
        </p:sp>
        <p:sp>
          <p:nvSpPr>
            <p:cNvPr id="444" name="Google Shape;444;p28"/>
            <p:cNvSpPr txBox="1"/>
            <p:nvPr/>
          </p:nvSpPr>
          <p:spPr>
            <a:xfrm>
              <a:off x="431925" y="760473"/>
              <a:ext cx="3033900" cy="329700"/>
            </a:xfrm>
            <a:prstGeom prst="rect">
              <a:avLst/>
            </a:prstGeom>
            <a:solidFill>
              <a:schemeClr val="dk1"/>
            </a:solidFill>
            <a:ln>
              <a:noFill/>
            </a:ln>
          </p:spPr>
          <p:txBody>
            <a:bodyPr spcFirstLastPara="1" wrap="square" lIns="105500" tIns="105500" rIns="105500" bIns="105500" anchor="ctr" anchorCtr="0">
              <a:noAutofit/>
            </a:bodyPr>
            <a:lstStyle/>
            <a:p>
              <a:pPr marL="0" lvl="0" indent="0" algn="l" rtl="0">
                <a:lnSpc>
                  <a:spcPct val="115000"/>
                </a:lnSpc>
                <a:spcBef>
                  <a:spcPts val="0"/>
                </a:spcBef>
                <a:spcAft>
                  <a:spcPts val="0"/>
                </a:spcAft>
                <a:buNone/>
              </a:pPr>
              <a:r>
                <a:rPr lang="en" sz="1300">
                  <a:solidFill>
                    <a:schemeClr val="lt1"/>
                  </a:solidFill>
                  <a:latin typeface="Nunito"/>
                  <a:ea typeface="Nunito"/>
                  <a:cs typeface="Nunito"/>
                  <a:sym typeface="Nunito"/>
                </a:rPr>
                <a:t>Validation Design</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grpSp>
        <p:nvGrpSpPr>
          <p:cNvPr id="449" name="Google Shape;449;p29"/>
          <p:cNvGrpSpPr/>
          <p:nvPr/>
        </p:nvGrpSpPr>
        <p:grpSpPr>
          <a:xfrm>
            <a:off x="357675" y="863675"/>
            <a:ext cx="8466075" cy="4242858"/>
            <a:chOff x="338904" y="1490941"/>
            <a:chExt cx="8466075" cy="3386700"/>
          </a:xfrm>
        </p:grpSpPr>
        <p:sp>
          <p:nvSpPr>
            <p:cNvPr id="450" name="Google Shape;450;p29"/>
            <p:cNvSpPr txBox="1"/>
            <p:nvPr/>
          </p:nvSpPr>
          <p:spPr>
            <a:xfrm>
              <a:off x="338904" y="1498350"/>
              <a:ext cx="84660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338978" y="1490941"/>
              <a:ext cx="8466000" cy="3386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9"/>
          <p:cNvSpPr txBox="1">
            <a:spLocks noGrp="1"/>
          </p:cNvSpPr>
          <p:nvPr>
            <p:ph type="title"/>
          </p:nvPr>
        </p:nvSpPr>
        <p:spPr>
          <a:xfrm>
            <a:off x="357678" y="91016"/>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Classification Modeling</a:t>
            </a:r>
            <a:endParaRPr/>
          </a:p>
        </p:txBody>
      </p:sp>
      <p:sp>
        <p:nvSpPr>
          <p:cNvPr id="453" name="Google Shape;453;p29"/>
          <p:cNvSpPr txBox="1">
            <a:spLocks noGrp="1"/>
          </p:cNvSpPr>
          <p:nvPr>
            <p:ph type="body" idx="4294967295"/>
          </p:nvPr>
        </p:nvSpPr>
        <p:spPr>
          <a:xfrm>
            <a:off x="395250" y="908000"/>
            <a:ext cx="4846800" cy="46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Q3. Rider Behavior Segmentation </a:t>
            </a:r>
            <a:endParaRPr>
              <a:solidFill>
                <a:schemeClr val="lt1"/>
              </a:solidFill>
            </a:endParaRPr>
          </a:p>
        </p:txBody>
      </p:sp>
      <p:sp>
        <p:nvSpPr>
          <p:cNvPr id="454" name="Google Shape;454;p29"/>
          <p:cNvSpPr txBox="1"/>
          <p:nvPr/>
        </p:nvSpPr>
        <p:spPr>
          <a:xfrm>
            <a:off x="430050" y="4346275"/>
            <a:ext cx="8283900" cy="6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Nunito"/>
                <a:ea typeface="Nunito"/>
                <a:cs typeface="Nunito"/>
                <a:sym typeface="Nunito"/>
              </a:rPr>
              <a:t>Result:</a:t>
            </a:r>
            <a:r>
              <a:rPr lang="en">
                <a:solidFill>
                  <a:schemeClr val="dk2"/>
                </a:solidFill>
                <a:latin typeface="Nunito"/>
                <a:ea typeface="Nunito"/>
                <a:cs typeface="Nunito"/>
                <a:sym typeface="Nunito"/>
              </a:rPr>
              <a:t> Of the 3 classification models fitted to predict if a ride was taken by a member at default threshold, the Logistic Regression model performed the best on the withheld 2024 test dataset.</a:t>
            </a:r>
            <a:endParaRPr>
              <a:solidFill>
                <a:schemeClr val="dk2"/>
              </a:solidFill>
              <a:latin typeface="Nunito"/>
              <a:ea typeface="Nunito"/>
              <a:cs typeface="Nunito"/>
              <a:sym typeface="Nunito"/>
            </a:endParaRPr>
          </a:p>
        </p:txBody>
      </p:sp>
      <p:graphicFrame>
        <p:nvGraphicFramePr>
          <p:cNvPr id="455" name="Google Shape;455;p29"/>
          <p:cNvGraphicFramePr/>
          <p:nvPr/>
        </p:nvGraphicFramePr>
        <p:xfrm>
          <a:off x="622700" y="1562100"/>
          <a:ext cx="4271700" cy="2516725"/>
        </p:xfrm>
        <a:graphic>
          <a:graphicData uri="http://schemas.openxmlformats.org/drawingml/2006/table">
            <a:tbl>
              <a:tblPr>
                <a:noFill/>
                <a:tableStyleId>{31CFE100-5331-4432-B5D4-83C2F04BC905}</a:tableStyleId>
              </a:tblPr>
              <a:tblGrid>
                <a:gridCol w="1067925">
                  <a:extLst>
                    <a:ext uri="{9D8B030D-6E8A-4147-A177-3AD203B41FA5}">
                      <a16:colId xmlns:a16="http://schemas.microsoft.com/office/drawing/2014/main" val="20000"/>
                    </a:ext>
                  </a:extLst>
                </a:gridCol>
                <a:gridCol w="1067925">
                  <a:extLst>
                    <a:ext uri="{9D8B030D-6E8A-4147-A177-3AD203B41FA5}">
                      <a16:colId xmlns:a16="http://schemas.microsoft.com/office/drawing/2014/main" val="20001"/>
                    </a:ext>
                  </a:extLst>
                </a:gridCol>
                <a:gridCol w="1067925">
                  <a:extLst>
                    <a:ext uri="{9D8B030D-6E8A-4147-A177-3AD203B41FA5}">
                      <a16:colId xmlns:a16="http://schemas.microsoft.com/office/drawing/2014/main" val="20002"/>
                    </a:ext>
                  </a:extLst>
                </a:gridCol>
                <a:gridCol w="1067925">
                  <a:extLst>
                    <a:ext uri="{9D8B030D-6E8A-4147-A177-3AD203B41FA5}">
                      <a16:colId xmlns:a16="http://schemas.microsoft.com/office/drawing/2014/main" val="20003"/>
                    </a:ext>
                  </a:extLst>
                </a:gridCol>
              </a:tblGrid>
              <a:tr h="579500">
                <a:tc>
                  <a:txBody>
                    <a:bodyPr/>
                    <a:lstStyle/>
                    <a:p>
                      <a:pPr marL="0" lvl="0" indent="0" algn="l" rtl="0">
                        <a:spcBef>
                          <a:spcPts val="0"/>
                        </a:spcBef>
                        <a:spcAft>
                          <a:spcPts val="0"/>
                        </a:spcAft>
                        <a:buNone/>
                      </a:pPr>
                      <a:r>
                        <a:rPr lang="en" b="1"/>
                        <a:t>Model</a:t>
                      </a:r>
                      <a:endParaRPr b="1"/>
                    </a:p>
                  </a:txBody>
                  <a:tcPr marL="91425" marR="91425" marT="91425" marB="91425"/>
                </a:tc>
                <a:tc>
                  <a:txBody>
                    <a:bodyPr/>
                    <a:lstStyle/>
                    <a:p>
                      <a:pPr marL="0" lvl="0" indent="0" algn="l" rtl="0">
                        <a:spcBef>
                          <a:spcPts val="0"/>
                        </a:spcBef>
                        <a:spcAft>
                          <a:spcPts val="0"/>
                        </a:spcAft>
                        <a:buNone/>
                      </a:pPr>
                      <a:r>
                        <a:rPr lang="en" b="1"/>
                        <a:t>Accuracy</a:t>
                      </a:r>
                      <a:endParaRPr b="1"/>
                    </a:p>
                  </a:txBody>
                  <a:tcPr marL="91425" marR="91425" marT="91425" marB="91425"/>
                </a:tc>
                <a:tc>
                  <a:txBody>
                    <a:bodyPr/>
                    <a:lstStyle/>
                    <a:p>
                      <a:pPr marL="0" lvl="0" indent="0" algn="l" rtl="0">
                        <a:spcBef>
                          <a:spcPts val="0"/>
                        </a:spcBef>
                        <a:spcAft>
                          <a:spcPts val="0"/>
                        </a:spcAft>
                        <a:buNone/>
                      </a:pPr>
                      <a:r>
                        <a:rPr lang="en" b="1"/>
                        <a:t>Precision</a:t>
                      </a:r>
                      <a:endParaRPr b="1"/>
                    </a:p>
                  </a:txBody>
                  <a:tcPr marL="91425" marR="91425" marT="91425" marB="91425"/>
                </a:tc>
                <a:tc>
                  <a:txBody>
                    <a:bodyPr/>
                    <a:lstStyle/>
                    <a:p>
                      <a:pPr marL="0" lvl="0" indent="0" algn="l" rtl="0">
                        <a:spcBef>
                          <a:spcPts val="0"/>
                        </a:spcBef>
                        <a:spcAft>
                          <a:spcPts val="0"/>
                        </a:spcAft>
                        <a:buNone/>
                      </a:pPr>
                      <a:r>
                        <a:rPr lang="en" b="1"/>
                        <a:t>Recall</a:t>
                      </a:r>
                      <a:endParaRPr b="1"/>
                    </a:p>
                  </a:txBody>
                  <a:tcPr marL="91425" marR="91425" marT="91425" marB="91425"/>
                </a:tc>
                <a:extLst>
                  <a:ext uri="{0D108BD9-81ED-4DB2-BD59-A6C34878D82A}">
                    <a16:rowId xmlns:a16="http://schemas.microsoft.com/office/drawing/2014/main" val="10000"/>
                  </a:ext>
                </a:extLst>
              </a:tr>
              <a:tr h="778225">
                <a:tc>
                  <a:txBody>
                    <a:bodyPr/>
                    <a:lstStyle/>
                    <a:p>
                      <a:pPr marL="0" lvl="0" indent="0" algn="l" rtl="0">
                        <a:spcBef>
                          <a:spcPts val="0"/>
                        </a:spcBef>
                        <a:spcAft>
                          <a:spcPts val="0"/>
                        </a:spcAft>
                        <a:buNone/>
                      </a:pPr>
                      <a:r>
                        <a:rPr lang="en" sz="1200" b="1"/>
                        <a:t>Logistic Regression</a:t>
                      </a:r>
                      <a:endParaRPr sz="1200" b="1"/>
                    </a:p>
                  </a:txBody>
                  <a:tcPr marL="91425" marR="91425" marT="91425" marB="91425"/>
                </a:tc>
                <a:tc>
                  <a:txBody>
                    <a:bodyPr/>
                    <a:lstStyle/>
                    <a:p>
                      <a:pPr marL="0" lvl="0" indent="0" algn="l" rtl="0">
                        <a:spcBef>
                          <a:spcPts val="0"/>
                        </a:spcBef>
                        <a:spcAft>
                          <a:spcPts val="0"/>
                        </a:spcAft>
                        <a:buNone/>
                      </a:pPr>
                      <a:r>
                        <a:rPr lang="en" sz="1200" b="1"/>
                        <a:t>0.69</a:t>
                      </a:r>
                      <a:endParaRPr sz="1200" b="1"/>
                    </a:p>
                  </a:txBody>
                  <a:tcPr marL="91425" marR="91425" marT="91425" marB="91425"/>
                </a:tc>
                <a:tc>
                  <a:txBody>
                    <a:bodyPr/>
                    <a:lstStyle/>
                    <a:p>
                      <a:pPr marL="0" lvl="0" indent="0" algn="l" rtl="0">
                        <a:spcBef>
                          <a:spcPts val="0"/>
                        </a:spcBef>
                        <a:spcAft>
                          <a:spcPts val="0"/>
                        </a:spcAft>
                        <a:buNone/>
                      </a:pPr>
                      <a:r>
                        <a:rPr lang="en" sz="1200" b="1"/>
                        <a:t>0.70</a:t>
                      </a:r>
                      <a:endParaRPr sz="1200" b="1"/>
                    </a:p>
                  </a:txBody>
                  <a:tcPr marL="91425" marR="91425" marT="91425" marB="91425"/>
                </a:tc>
                <a:tc>
                  <a:txBody>
                    <a:bodyPr/>
                    <a:lstStyle/>
                    <a:p>
                      <a:pPr marL="0" lvl="0" indent="0" algn="l" rtl="0">
                        <a:spcBef>
                          <a:spcPts val="0"/>
                        </a:spcBef>
                        <a:spcAft>
                          <a:spcPts val="0"/>
                        </a:spcAft>
                        <a:buNone/>
                      </a:pPr>
                      <a:r>
                        <a:rPr lang="en" sz="1200" b="1"/>
                        <a:t>0.80</a:t>
                      </a:r>
                      <a:endParaRPr sz="1200" b="1"/>
                    </a:p>
                  </a:txBody>
                  <a:tcPr marL="91425" marR="91425" marT="91425" marB="91425"/>
                </a:tc>
                <a:extLst>
                  <a:ext uri="{0D108BD9-81ED-4DB2-BD59-A6C34878D82A}">
                    <a16:rowId xmlns:a16="http://schemas.microsoft.com/office/drawing/2014/main" val="10001"/>
                  </a:ext>
                </a:extLst>
              </a:tr>
              <a:tr h="579500">
                <a:tc>
                  <a:txBody>
                    <a:bodyPr/>
                    <a:lstStyle/>
                    <a:p>
                      <a:pPr marL="0" lvl="0" indent="0" algn="l" rtl="0">
                        <a:spcBef>
                          <a:spcPts val="0"/>
                        </a:spcBef>
                        <a:spcAft>
                          <a:spcPts val="0"/>
                        </a:spcAft>
                        <a:buNone/>
                      </a:pPr>
                      <a:r>
                        <a:rPr lang="en" sz="1200"/>
                        <a:t>KNN</a:t>
                      </a:r>
                      <a:endParaRPr sz="1200"/>
                    </a:p>
                  </a:txBody>
                  <a:tcPr marL="91425" marR="91425" marT="91425" marB="91425"/>
                </a:tc>
                <a:tc>
                  <a:txBody>
                    <a:bodyPr/>
                    <a:lstStyle/>
                    <a:p>
                      <a:pPr marL="0" lvl="0" indent="0" algn="l" rtl="0">
                        <a:spcBef>
                          <a:spcPts val="0"/>
                        </a:spcBef>
                        <a:spcAft>
                          <a:spcPts val="0"/>
                        </a:spcAft>
                        <a:buNone/>
                      </a:pPr>
                      <a:r>
                        <a:rPr lang="en" sz="1200"/>
                        <a:t>0.65</a:t>
                      </a:r>
                      <a:endParaRPr sz="1200"/>
                    </a:p>
                  </a:txBody>
                  <a:tcPr marL="91425" marR="91425" marT="91425" marB="91425"/>
                </a:tc>
                <a:tc>
                  <a:txBody>
                    <a:bodyPr/>
                    <a:lstStyle/>
                    <a:p>
                      <a:pPr marL="0" lvl="0" indent="0" algn="l" rtl="0">
                        <a:spcBef>
                          <a:spcPts val="0"/>
                        </a:spcBef>
                        <a:spcAft>
                          <a:spcPts val="0"/>
                        </a:spcAft>
                        <a:buNone/>
                      </a:pPr>
                      <a:r>
                        <a:rPr lang="en" sz="1200"/>
                        <a:t>0.70</a:t>
                      </a:r>
                      <a:endParaRPr sz="1200"/>
                    </a:p>
                  </a:txBody>
                  <a:tcPr marL="91425" marR="91425" marT="91425" marB="91425"/>
                </a:tc>
                <a:tc>
                  <a:txBody>
                    <a:bodyPr/>
                    <a:lstStyle/>
                    <a:p>
                      <a:pPr marL="0" lvl="0" indent="0" algn="l" rtl="0">
                        <a:spcBef>
                          <a:spcPts val="0"/>
                        </a:spcBef>
                        <a:spcAft>
                          <a:spcPts val="0"/>
                        </a:spcAft>
                        <a:buNone/>
                      </a:pPr>
                      <a:r>
                        <a:rPr lang="en" sz="1200"/>
                        <a:t>0.68</a:t>
                      </a:r>
                      <a:endParaRPr sz="1200"/>
                    </a:p>
                  </a:txBody>
                  <a:tcPr marL="91425" marR="91425" marT="91425" marB="91425"/>
                </a:tc>
                <a:extLst>
                  <a:ext uri="{0D108BD9-81ED-4DB2-BD59-A6C34878D82A}">
                    <a16:rowId xmlns:a16="http://schemas.microsoft.com/office/drawing/2014/main" val="10002"/>
                  </a:ext>
                </a:extLst>
              </a:tr>
              <a:tr h="579500">
                <a:tc>
                  <a:txBody>
                    <a:bodyPr/>
                    <a:lstStyle/>
                    <a:p>
                      <a:pPr marL="0" lvl="0" indent="0" algn="l" rtl="0">
                        <a:spcBef>
                          <a:spcPts val="0"/>
                        </a:spcBef>
                        <a:spcAft>
                          <a:spcPts val="0"/>
                        </a:spcAft>
                        <a:buNone/>
                      </a:pPr>
                      <a:r>
                        <a:rPr lang="en" sz="1200"/>
                        <a:t>Random forest</a:t>
                      </a:r>
                      <a:endParaRPr sz="1200"/>
                    </a:p>
                  </a:txBody>
                  <a:tcPr marL="91425" marR="91425" marT="91425" marB="91425"/>
                </a:tc>
                <a:tc>
                  <a:txBody>
                    <a:bodyPr/>
                    <a:lstStyle/>
                    <a:p>
                      <a:pPr marL="0" lvl="0" indent="0" algn="l" rtl="0">
                        <a:spcBef>
                          <a:spcPts val="0"/>
                        </a:spcBef>
                        <a:spcAft>
                          <a:spcPts val="0"/>
                        </a:spcAft>
                        <a:buNone/>
                      </a:pPr>
                      <a:r>
                        <a:rPr lang="en" sz="1200"/>
                        <a:t>0.62</a:t>
                      </a:r>
                      <a:endParaRPr sz="1200"/>
                    </a:p>
                  </a:txBody>
                  <a:tcPr marL="91425" marR="91425" marT="91425" marB="91425"/>
                </a:tc>
                <a:tc>
                  <a:txBody>
                    <a:bodyPr/>
                    <a:lstStyle/>
                    <a:p>
                      <a:pPr marL="0" lvl="0" indent="0" algn="l" rtl="0">
                        <a:spcBef>
                          <a:spcPts val="0"/>
                        </a:spcBef>
                        <a:spcAft>
                          <a:spcPts val="0"/>
                        </a:spcAft>
                        <a:buNone/>
                      </a:pPr>
                      <a:r>
                        <a:rPr lang="en" sz="1200"/>
                        <a:t>0.68</a:t>
                      </a:r>
                      <a:endParaRPr sz="1200"/>
                    </a:p>
                  </a:txBody>
                  <a:tcPr marL="91425" marR="91425" marT="91425" marB="91425"/>
                </a:tc>
                <a:tc>
                  <a:txBody>
                    <a:bodyPr/>
                    <a:lstStyle/>
                    <a:p>
                      <a:pPr marL="0" lvl="0" indent="0" algn="l" rtl="0">
                        <a:spcBef>
                          <a:spcPts val="0"/>
                        </a:spcBef>
                        <a:spcAft>
                          <a:spcPts val="0"/>
                        </a:spcAft>
                        <a:buNone/>
                      </a:pPr>
                      <a:r>
                        <a:rPr lang="en" sz="1200"/>
                        <a:t>0.62</a:t>
                      </a:r>
                      <a:endParaRPr sz="1200"/>
                    </a:p>
                  </a:txBody>
                  <a:tcPr marL="91425" marR="91425" marT="91425" marB="91425"/>
                </a:tc>
                <a:extLst>
                  <a:ext uri="{0D108BD9-81ED-4DB2-BD59-A6C34878D82A}">
                    <a16:rowId xmlns:a16="http://schemas.microsoft.com/office/drawing/2014/main" val="10003"/>
                  </a:ext>
                </a:extLst>
              </a:tr>
            </a:tbl>
          </a:graphicData>
        </a:graphic>
      </p:graphicFrame>
      <p:pic>
        <p:nvPicPr>
          <p:cNvPr id="456" name="Google Shape;456;p29" title="multipleRegression correlation matrix.png"/>
          <p:cNvPicPr preferRelativeResize="0"/>
          <p:nvPr/>
        </p:nvPicPr>
        <p:blipFill>
          <a:blip r:embed="rId3">
            <a:alphaModFix/>
          </a:blip>
          <a:stretch>
            <a:fillRect/>
          </a:stretch>
        </p:blipFill>
        <p:spPr>
          <a:xfrm>
            <a:off x="5315675" y="1817438"/>
            <a:ext cx="3067375" cy="2528825"/>
          </a:xfrm>
          <a:prstGeom prst="rect">
            <a:avLst/>
          </a:prstGeom>
          <a:noFill/>
          <a:ln>
            <a:noFill/>
          </a:ln>
        </p:spPr>
      </p:pic>
      <p:sp>
        <p:nvSpPr>
          <p:cNvPr id="457" name="Google Shape;457;p29"/>
          <p:cNvSpPr txBox="1"/>
          <p:nvPr/>
        </p:nvSpPr>
        <p:spPr>
          <a:xfrm>
            <a:off x="5500150" y="1432550"/>
            <a:ext cx="345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Nunito"/>
                <a:ea typeface="Nunito"/>
                <a:cs typeface="Nunito"/>
                <a:sym typeface="Nunito"/>
              </a:rPr>
              <a:t>Logistic Regression Confusion Matrix</a:t>
            </a:r>
            <a:endParaRPr sz="1300">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0"/>
          <p:cNvSpPr txBox="1">
            <a:spLocks noGrp="1"/>
          </p:cNvSpPr>
          <p:nvPr>
            <p:ph type="title"/>
          </p:nvPr>
        </p:nvSpPr>
        <p:spPr>
          <a:xfrm>
            <a:off x="1335050" y="6982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Future Opportunities </a:t>
            </a:r>
            <a:endParaRPr dirty="0"/>
          </a:p>
        </p:txBody>
      </p:sp>
      <p:grpSp>
        <p:nvGrpSpPr>
          <p:cNvPr id="463" name="Google Shape;463;p30"/>
          <p:cNvGrpSpPr/>
          <p:nvPr/>
        </p:nvGrpSpPr>
        <p:grpSpPr>
          <a:xfrm>
            <a:off x="463175" y="1404565"/>
            <a:ext cx="2628925" cy="3291018"/>
            <a:chOff x="431925" y="1304875"/>
            <a:chExt cx="2628925" cy="3416400"/>
          </a:xfrm>
        </p:grpSpPr>
        <p:sp>
          <p:nvSpPr>
            <p:cNvPr id="464" name="Google Shape;464;p30"/>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30"/>
          <p:cNvSpPr txBox="1">
            <a:spLocks noGrp="1"/>
          </p:cNvSpPr>
          <p:nvPr>
            <p:ph type="body" idx="4294967295"/>
          </p:nvPr>
        </p:nvSpPr>
        <p:spPr>
          <a:xfrm>
            <a:off x="537675" y="1404575"/>
            <a:ext cx="2494500" cy="461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600">
                <a:solidFill>
                  <a:schemeClr val="lt1"/>
                </a:solidFill>
              </a:rPr>
              <a:t>Q1. Rides Per Day</a:t>
            </a:r>
            <a:endParaRPr sz="1600">
              <a:solidFill>
                <a:schemeClr val="lt1"/>
              </a:solidFill>
            </a:endParaRPr>
          </a:p>
        </p:txBody>
      </p:sp>
      <p:sp>
        <p:nvSpPr>
          <p:cNvPr id="467" name="Google Shape;467;p30"/>
          <p:cNvSpPr txBox="1">
            <a:spLocks noGrp="1"/>
          </p:cNvSpPr>
          <p:nvPr>
            <p:ph type="body" idx="4294967295"/>
          </p:nvPr>
        </p:nvSpPr>
        <p:spPr>
          <a:xfrm>
            <a:off x="539575" y="1661565"/>
            <a:ext cx="2478600" cy="2385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b="1" u="sng" dirty="0">
                <a:solidFill>
                  <a:srgbClr val="000000"/>
                </a:solidFill>
                <a:latin typeface="Arial"/>
                <a:ea typeface="Arial"/>
                <a:cs typeface="Arial"/>
                <a:sym typeface="Arial"/>
              </a:rPr>
              <a:t>Currently Delivered:</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Increased efficiency by defining expected usage for a given day, and enhance customer experience and satisfaction. </a:t>
            </a:r>
            <a:endParaRPr sz="1200" dirty="0">
              <a:solidFill>
                <a:srgbClr val="000000"/>
              </a:solidFill>
              <a:latin typeface="Arial"/>
              <a:ea typeface="Arial"/>
              <a:cs typeface="Arial"/>
              <a:sym typeface="Arial"/>
            </a:endParaRPr>
          </a:p>
          <a:p>
            <a:pPr marL="0" lvl="0" indent="0" algn="l" rtl="0">
              <a:spcBef>
                <a:spcPts val="1200"/>
              </a:spcBef>
              <a:spcAft>
                <a:spcPts val="0"/>
              </a:spcAft>
              <a:buNone/>
            </a:pPr>
            <a:r>
              <a:rPr lang="en" sz="1200" b="1" u="sng" dirty="0">
                <a:solidFill>
                  <a:srgbClr val="000000"/>
                </a:solidFill>
                <a:latin typeface="Arial"/>
                <a:ea typeface="Arial"/>
                <a:cs typeface="Arial"/>
                <a:sym typeface="Arial"/>
              </a:rPr>
              <a:t>Improvement Opportunity:</a:t>
            </a:r>
            <a:r>
              <a:rPr lang="en" sz="1200" dirty="0">
                <a:solidFill>
                  <a:srgbClr val="000000"/>
                </a:solidFill>
                <a:latin typeface="Arial"/>
                <a:ea typeface="Arial"/>
                <a:cs typeface="Arial"/>
                <a:sym typeface="Arial"/>
              </a:rPr>
              <a:t> </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1.) Potentially value in segmenting model by season to better capture variability.</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2.) Incorporate events calendar (concerts, sporting events, etc.) to help predict demand surges.</a:t>
            </a:r>
            <a:endParaRPr sz="1200" dirty="0">
              <a:solidFill>
                <a:srgbClr val="000000"/>
              </a:solidFill>
              <a:latin typeface="Arial"/>
              <a:ea typeface="Arial"/>
              <a:cs typeface="Arial"/>
              <a:sym typeface="Arial"/>
            </a:endParaRPr>
          </a:p>
          <a:p>
            <a:pPr marL="457200" lvl="0" indent="0" algn="l" rtl="0">
              <a:spcBef>
                <a:spcPts val="1200"/>
              </a:spcBef>
              <a:spcAft>
                <a:spcPts val="0"/>
              </a:spcAft>
              <a:buNone/>
            </a:pPr>
            <a:endParaRPr sz="1200" dirty="0">
              <a:solidFill>
                <a:srgbClr val="000000"/>
              </a:solidFill>
              <a:latin typeface="Arial"/>
              <a:ea typeface="Arial"/>
              <a:cs typeface="Arial"/>
              <a:sym typeface="Arial"/>
            </a:endParaRPr>
          </a:p>
          <a:p>
            <a:pPr marL="457200" lvl="0" indent="0" algn="l" rtl="0">
              <a:spcBef>
                <a:spcPts val="1200"/>
              </a:spcBef>
              <a:spcAft>
                <a:spcPts val="0"/>
              </a:spcAft>
              <a:buNone/>
            </a:pPr>
            <a:endParaRPr sz="1200" dirty="0"/>
          </a:p>
          <a:p>
            <a:pPr marL="0" lvl="0" indent="0" algn="l" rtl="0">
              <a:spcBef>
                <a:spcPts val="1200"/>
              </a:spcBef>
              <a:spcAft>
                <a:spcPts val="1200"/>
              </a:spcAft>
              <a:buNone/>
            </a:pPr>
            <a:endParaRPr sz="1200" dirty="0"/>
          </a:p>
        </p:txBody>
      </p:sp>
      <p:grpSp>
        <p:nvGrpSpPr>
          <p:cNvPr id="468" name="Google Shape;468;p30"/>
          <p:cNvGrpSpPr/>
          <p:nvPr/>
        </p:nvGrpSpPr>
        <p:grpSpPr>
          <a:xfrm>
            <a:off x="3351700" y="1404582"/>
            <a:ext cx="2632500" cy="3291018"/>
            <a:chOff x="3320450" y="1304875"/>
            <a:chExt cx="2632500" cy="3416400"/>
          </a:xfrm>
        </p:grpSpPr>
        <p:sp>
          <p:nvSpPr>
            <p:cNvPr id="469" name="Google Shape;469;p30"/>
            <p:cNvSpPr txBox="1"/>
            <p:nvPr/>
          </p:nvSpPr>
          <p:spPr>
            <a:xfrm>
              <a:off x="3324050"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p:cNvSpPr/>
            <p:nvPr/>
          </p:nvSpPr>
          <p:spPr>
            <a:xfrm>
              <a:off x="33204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1" name="Google Shape;471;p30"/>
          <p:cNvSpPr/>
          <p:nvPr/>
        </p:nvSpPr>
        <p:spPr>
          <a:xfrm>
            <a:off x="6246650" y="1404525"/>
            <a:ext cx="2628900" cy="3291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txBox="1"/>
          <p:nvPr/>
        </p:nvSpPr>
        <p:spPr>
          <a:xfrm>
            <a:off x="6243800" y="1404525"/>
            <a:ext cx="2632500" cy="413049"/>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txBox="1">
            <a:spLocks noGrp="1"/>
          </p:cNvSpPr>
          <p:nvPr>
            <p:ph type="body" idx="4294967295"/>
          </p:nvPr>
        </p:nvSpPr>
        <p:spPr>
          <a:xfrm>
            <a:off x="3432187" y="1653686"/>
            <a:ext cx="2478600" cy="2544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b="1" u="sng" dirty="0">
                <a:solidFill>
                  <a:srgbClr val="000000"/>
                </a:solidFill>
                <a:latin typeface="Arial"/>
                <a:ea typeface="Arial"/>
                <a:cs typeface="Arial"/>
                <a:sym typeface="Arial"/>
              </a:rPr>
              <a:t>Currently Delivered:</a:t>
            </a:r>
            <a:br>
              <a:rPr lang="en" sz="1200" b="1" u="sng"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Preliminary analysis of factors, no current sound model.</a:t>
            </a:r>
            <a:endParaRPr sz="1200" dirty="0">
              <a:solidFill>
                <a:srgbClr val="000000"/>
              </a:solidFill>
              <a:latin typeface="Arial"/>
              <a:ea typeface="Arial"/>
              <a:cs typeface="Arial"/>
              <a:sym typeface="Arial"/>
            </a:endParaRPr>
          </a:p>
          <a:p>
            <a:pPr marL="0" lvl="0" indent="0" algn="l" rtl="0">
              <a:spcBef>
                <a:spcPts val="1200"/>
              </a:spcBef>
              <a:spcAft>
                <a:spcPts val="0"/>
              </a:spcAft>
              <a:buNone/>
            </a:pPr>
            <a:r>
              <a:rPr lang="en" sz="1200" b="1" u="sng" dirty="0">
                <a:solidFill>
                  <a:srgbClr val="000000"/>
                </a:solidFill>
                <a:latin typeface="Arial"/>
                <a:ea typeface="Arial"/>
                <a:cs typeface="Arial"/>
                <a:sym typeface="Arial"/>
              </a:rPr>
              <a:t>Improvement Opportunity:</a:t>
            </a:r>
            <a:br>
              <a:rPr lang="en" sz="1200" b="1" u="sng"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1.) Collect additional data including bike ids, member data, other available features</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2.) Leverage bike IDs to analyze bike usage patterns to predict when a specific bike will need maintenance or charging, reducing downtime.</a:t>
            </a:r>
            <a:endParaRPr sz="1200" dirty="0">
              <a:solidFill>
                <a:srgbClr val="000000"/>
              </a:solidFill>
              <a:latin typeface="Arial"/>
              <a:ea typeface="Arial"/>
              <a:cs typeface="Arial"/>
              <a:sym typeface="Arial"/>
            </a:endParaRPr>
          </a:p>
          <a:p>
            <a:pPr marL="457200" lvl="0" indent="0" algn="l" rtl="0">
              <a:spcBef>
                <a:spcPts val="1200"/>
              </a:spcBef>
              <a:spcAft>
                <a:spcPts val="0"/>
              </a:spcAft>
              <a:buNone/>
            </a:pPr>
            <a:endParaRPr sz="1200" dirty="0"/>
          </a:p>
          <a:p>
            <a:pPr marL="0" lvl="0" indent="0" algn="l" rtl="0">
              <a:spcBef>
                <a:spcPts val="1200"/>
              </a:spcBef>
              <a:spcAft>
                <a:spcPts val="1200"/>
              </a:spcAft>
              <a:buNone/>
            </a:pPr>
            <a:endParaRPr sz="1200" dirty="0"/>
          </a:p>
        </p:txBody>
      </p:sp>
      <p:sp>
        <p:nvSpPr>
          <p:cNvPr id="474" name="Google Shape;474;p30"/>
          <p:cNvSpPr txBox="1">
            <a:spLocks noGrp="1"/>
          </p:cNvSpPr>
          <p:nvPr>
            <p:ph type="body" idx="4294967295"/>
          </p:nvPr>
        </p:nvSpPr>
        <p:spPr>
          <a:xfrm>
            <a:off x="3390738" y="1404575"/>
            <a:ext cx="2494500" cy="4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lt1"/>
                </a:solidFill>
              </a:rPr>
              <a:t>Q2. Trip Duration</a:t>
            </a:r>
            <a:endParaRPr sz="1600">
              <a:solidFill>
                <a:schemeClr val="lt1"/>
              </a:solidFill>
            </a:endParaRPr>
          </a:p>
        </p:txBody>
      </p:sp>
      <p:sp>
        <p:nvSpPr>
          <p:cNvPr id="475" name="Google Shape;475;p30"/>
          <p:cNvSpPr txBox="1">
            <a:spLocks noGrp="1"/>
          </p:cNvSpPr>
          <p:nvPr>
            <p:ph type="body" idx="4294967295"/>
          </p:nvPr>
        </p:nvSpPr>
        <p:spPr>
          <a:xfrm>
            <a:off x="6303725" y="1431125"/>
            <a:ext cx="2494500" cy="461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600">
                <a:solidFill>
                  <a:schemeClr val="lt1"/>
                </a:solidFill>
              </a:rPr>
              <a:t>Q3. Rider Membership</a:t>
            </a:r>
            <a:endParaRPr sz="1600">
              <a:solidFill>
                <a:schemeClr val="lt1"/>
              </a:solidFill>
            </a:endParaRPr>
          </a:p>
        </p:txBody>
      </p:sp>
      <p:sp>
        <p:nvSpPr>
          <p:cNvPr id="476" name="Google Shape;476;p30"/>
          <p:cNvSpPr txBox="1">
            <a:spLocks noGrp="1"/>
          </p:cNvSpPr>
          <p:nvPr>
            <p:ph type="body" idx="4294967295"/>
          </p:nvPr>
        </p:nvSpPr>
        <p:spPr>
          <a:xfrm>
            <a:off x="6311050" y="1646553"/>
            <a:ext cx="2478600" cy="24951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b="1" u="sng" dirty="0">
                <a:solidFill>
                  <a:srgbClr val="000000"/>
                </a:solidFill>
                <a:latin typeface="Arial"/>
                <a:ea typeface="Arial"/>
                <a:cs typeface="Arial"/>
                <a:sym typeface="Arial"/>
              </a:rPr>
              <a:t>Currently Delivered:</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Defined marketing opportunities by isolating characteristics of non-member riders.</a:t>
            </a:r>
            <a:endParaRPr sz="1200" dirty="0">
              <a:solidFill>
                <a:srgbClr val="000000"/>
              </a:solidFill>
              <a:latin typeface="Arial"/>
              <a:ea typeface="Arial"/>
              <a:cs typeface="Arial"/>
              <a:sym typeface="Arial"/>
            </a:endParaRPr>
          </a:p>
          <a:p>
            <a:pPr marL="0" lvl="0" indent="0" algn="l" rtl="0">
              <a:spcBef>
                <a:spcPts val="1200"/>
              </a:spcBef>
              <a:spcAft>
                <a:spcPts val="0"/>
              </a:spcAft>
              <a:buNone/>
            </a:pPr>
            <a:r>
              <a:rPr lang="en" sz="1200" b="1" u="sng" dirty="0">
                <a:solidFill>
                  <a:srgbClr val="000000"/>
                </a:solidFill>
                <a:latin typeface="Arial"/>
                <a:ea typeface="Arial"/>
                <a:cs typeface="Arial"/>
                <a:sym typeface="Arial"/>
              </a:rPr>
              <a:t>Improvement Opportunity:</a:t>
            </a:r>
            <a:r>
              <a:rPr lang="en" sz="1200" dirty="0">
                <a:solidFill>
                  <a:srgbClr val="000000"/>
                </a:solidFill>
                <a:latin typeface="Arial"/>
                <a:ea typeface="Arial"/>
                <a:cs typeface="Arial"/>
                <a:sym typeface="Arial"/>
              </a:rPr>
              <a:t> </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1.) Opportunity to alter threshold (model certainty of membership) to lower non-members classified as members and lost potential.</a:t>
            </a:r>
            <a:br>
              <a:rPr lang="en" sz="1200" dirty="0">
                <a:solidFill>
                  <a:srgbClr val="000000"/>
                </a:solidFill>
                <a:latin typeface="Arial"/>
                <a:ea typeface="Arial"/>
                <a:cs typeface="Arial"/>
                <a:sym typeface="Arial"/>
              </a:rPr>
            </a:br>
            <a:r>
              <a:rPr lang="en" sz="1200" dirty="0">
                <a:solidFill>
                  <a:srgbClr val="000000"/>
                </a:solidFill>
                <a:latin typeface="Arial"/>
                <a:ea typeface="Arial"/>
                <a:cs typeface="Arial"/>
                <a:sym typeface="Arial"/>
              </a:rPr>
              <a:t>2.) Incorporate events calendar (concerts, sporting events, etc.).</a:t>
            </a:r>
            <a:endParaRPr sz="1200" dirty="0">
              <a:solidFill>
                <a:srgbClr val="000000"/>
              </a:solidFill>
              <a:latin typeface="Arial"/>
              <a:ea typeface="Arial"/>
              <a:cs typeface="Arial"/>
              <a:sym typeface="Arial"/>
            </a:endParaRPr>
          </a:p>
          <a:p>
            <a:pPr marL="457200" lvl="0" indent="0" algn="l" rtl="0">
              <a:spcBef>
                <a:spcPts val="1200"/>
              </a:spcBef>
              <a:spcAft>
                <a:spcPts val="0"/>
              </a:spcAft>
              <a:buNone/>
            </a:pPr>
            <a:endParaRPr sz="1200" dirty="0">
              <a:solidFill>
                <a:srgbClr val="000000"/>
              </a:solidFill>
              <a:latin typeface="Arial"/>
              <a:ea typeface="Arial"/>
              <a:cs typeface="Arial"/>
              <a:sym typeface="Arial"/>
            </a:endParaRPr>
          </a:p>
          <a:p>
            <a:pPr marL="457200" lvl="0" indent="0" algn="l" rtl="0">
              <a:spcBef>
                <a:spcPts val="1200"/>
              </a:spcBef>
              <a:spcAft>
                <a:spcPts val="0"/>
              </a:spcAft>
              <a:buNone/>
            </a:pPr>
            <a:endParaRPr sz="1200" dirty="0"/>
          </a:p>
          <a:p>
            <a:pPr marL="457200" lvl="0" indent="0" algn="l" rtl="0">
              <a:spcBef>
                <a:spcPts val="1200"/>
              </a:spcBef>
              <a:spcAft>
                <a:spcPts val="1200"/>
              </a:spcAft>
              <a:buNone/>
            </a:pPr>
            <a:endParaRPr sz="1700"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grpSp>
        <p:nvGrpSpPr>
          <p:cNvPr id="481" name="Google Shape;481;p31"/>
          <p:cNvGrpSpPr/>
          <p:nvPr/>
        </p:nvGrpSpPr>
        <p:grpSpPr>
          <a:xfrm>
            <a:off x="4939500" y="1219611"/>
            <a:ext cx="3837000" cy="2704200"/>
            <a:chOff x="4939500" y="1219611"/>
            <a:chExt cx="3837000" cy="2704200"/>
          </a:xfrm>
        </p:grpSpPr>
        <p:cxnSp>
          <p:nvCxnSpPr>
            <p:cNvPr id="482" name="Google Shape;482;p31"/>
            <p:cNvCxnSpPr/>
            <p:nvPr/>
          </p:nvCxnSpPr>
          <p:spPr>
            <a:xfrm>
              <a:off x="4939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3" name="Google Shape;483;p31"/>
            <p:cNvCxnSpPr/>
            <p:nvPr/>
          </p:nvCxnSpPr>
          <p:spPr>
            <a:xfrm>
              <a:off x="5365833"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4" name="Google Shape;484;p31"/>
            <p:cNvCxnSpPr/>
            <p:nvPr/>
          </p:nvCxnSpPr>
          <p:spPr>
            <a:xfrm>
              <a:off x="5792167"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5" name="Google Shape;485;p31"/>
            <p:cNvCxnSpPr/>
            <p:nvPr/>
          </p:nvCxnSpPr>
          <p:spPr>
            <a:xfrm>
              <a:off x="6218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6" name="Google Shape;486;p31"/>
            <p:cNvCxnSpPr/>
            <p:nvPr/>
          </p:nvCxnSpPr>
          <p:spPr>
            <a:xfrm>
              <a:off x="6644834"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7" name="Google Shape;487;p31"/>
            <p:cNvCxnSpPr/>
            <p:nvPr/>
          </p:nvCxnSpPr>
          <p:spPr>
            <a:xfrm>
              <a:off x="7071166"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8" name="Google Shape;488;p31"/>
            <p:cNvCxnSpPr/>
            <p:nvPr/>
          </p:nvCxnSpPr>
          <p:spPr>
            <a:xfrm>
              <a:off x="7497500"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89" name="Google Shape;489;p31"/>
            <p:cNvCxnSpPr/>
            <p:nvPr/>
          </p:nvCxnSpPr>
          <p:spPr>
            <a:xfrm>
              <a:off x="7923834"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90" name="Google Shape;490;p31"/>
            <p:cNvCxnSpPr/>
            <p:nvPr/>
          </p:nvCxnSpPr>
          <p:spPr>
            <a:xfrm>
              <a:off x="8350166" y="1219611"/>
              <a:ext cx="0" cy="2704200"/>
            </a:xfrm>
            <a:prstGeom prst="straightConnector1">
              <a:avLst/>
            </a:prstGeom>
            <a:noFill/>
            <a:ln w="9525" cap="flat" cmpd="sng">
              <a:solidFill>
                <a:schemeClr val="lt1"/>
              </a:solidFill>
              <a:prstDash val="dash"/>
              <a:round/>
              <a:headEnd type="none" w="sm" len="sm"/>
              <a:tailEnd type="none" w="sm" len="sm"/>
            </a:ln>
          </p:spPr>
        </p:cxnSp>
        <p:cxnSp>
          <p:nvCxnSpPr>
            <p:cNvPr id="491" name="Google Shape;491;p31"/>
            <p:cNvCxnSpPr/>
            <p:nvPr/>
          </p:nvCxnSpPr>
          <p:spPr>
            <a:xfrm>
              <a:off x="8776500" y="1219611"/>
              <a:ext cx="0" cy="2704200"/>
            </a:xfrm>
            <a:prstGeom prst="straightConnector1">
              <a:avLst/>
            </a:prstGeom>
            <a:noFill/>
            <a:ln w="9525" cap="flat" cmpd="sng">
              <a:solidFill>
                <a:schemeClr val="lt1"/>
              </a:solidFill>
              <a:prstDash val="dash"/>
              <a:round/>
              <a:headEnd type="none" w="sm" len="sm"/>
              <a:tailEnd type="none" w="sm" len="sm"/>
            </a:ln>
          </p:spPr>
        </p:cxnSp>
      </p:grpSp>
      <p:sp>
        <p:nvSpPr>
          <p:cNvPr id="492" name="Google Shape;492;p31"/>
          <p:cNvSpPr/>
          <p:nvPr/>
        </p:nvSpPr>
        <p:spPr>
          <a:xfrm>
            <a:off x="7014920" y="2133119"/>
            <a:ext cx="286500" cy="286500"/>
          </a:xfrm>
          <a:prstGeom prst="ellipse">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txBox="1">
            <a:spLocks noGrp="1"/>
          </p:cNvSpPr>
          <p:nvPr>
            <p:ph type="title"/>
          </p:nvPr>
        </p:nvSpPr>
        <p:spPr>
          <a:xfrm>
            <a:off x="1303800" y="598575"/>
            <a:ext cx="5089200" cy="72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Investing in a smarter ride </a:t>
            </a:r>
            <a:endParaRPr/>
          </a:p>
        </p:txBody>
      </p:sp>
      <p:sp>
        <p:nvSpPr>
          <p:cNvPr id="494" name="Google Shape;494;p31"/>
          <p:cNvSpPr txBox="1">
            <a:spLocks noGrp="1"/>
          </p:cNvSpPr>
          <p:nvPr>
            <p:ph type="subTitle" idx="1"/>
          </p:nvPr>
        </p:nvSpPr>
        <p:spPr>
          <a:xfrm>
            <a:off x="772375" y="1684350"/>
            <a:ext cx="4573500" cy="3270900"/>
          </a:xfrm>
          <a:prstGeom prst="rect">
            <a:avLst/>
          </a:prstGeom>
        </p:spPr>
        <p:txBody>
          <a:bodyPr spcFirstLastPara="1" wrap="square" lIns="91425" tIns="91425" rIns="91425" bIns="91425" anchor="t" anchorCtr="0">
            <a:normAutofit fontScale="62500" lnSpcReduction="20000"/>
          </a:bodyPr>
          <a:lstStyle/>
          <a:p>
            <a:pPr marL="457200" lvl="0" indent="-333965" algn="l" rtl="0">
              <a:lnSpc>
                <a:spcPct val="115000"/>
              </a:lnSpc>
              <a:spcBef>
                <a:spcPts val="1200"/>
              </a:spcBef>
              <a:spcAft>
                <a:spcPts val="0"/>
              </a:spcAft>
              <a:buClr>
                <a:srgbClr val="000000"/>
              </a:buClr>
              <a:buSzPct val="100000"/>
              <a:buFont typeface="Arial"/>
              <a:buChar char="●"/>
            </a:pPr>
            <a:r>
              <a:rPr lang="en" sz="2370">
                <a:solidFill>
                  <a:srgbClr val="000000"/>
                </a:solidFill>
                <a:latin typeface="Arial"/>
                <a:ea typeface="Arial"/>
                <a:cs typeface="Arial"/>
                <a:sym typeface="Arial"/>
              </a:rPr>
              <a:t>By leveraging predictive analytics for data-driven operations, CoGo can become a more efficient, profitable, competitive, and user-friendly service.</a:t>
            </a:r>
            <a:endParaRPr sz="2370">
              <a:solidFill>
                <a:srgbClr val="000000"/>
              </a:solidFill>
              <a:latin typeface="Arial"/>
              <a:ea typeface="Arial"/>
              <a:cs typeface="Arial"/>
              <a:sym typeface="Arial"/>
            </a:endParaRPr>
          </a:p>
          <a:p>
            <a:pPr marL="457200" lvl="0" indent="0" algn="l" rtl="0">
              <a:lnSpc>
                <a:spcPct val="115000"/>
              </a:lnSpc>
              <a:spcBef>
                <a:spcPts val="1200"/>
              </a:spcBef>
              <a:spcAft>
                <a:spcPts val="0"/>
              </a:spcAft>
              <a:buNone/>
            </a:pPr>
            <a:endParaRPr sz="2370">
              <a:solidFill>
                <a:srgbClr val="000000"/>
              </a:solidFill>
              <a:latin typeface="Arial"/>
              <a:ea typeface="Arial"/>
              <a:cs typeface="Arial"/>
              <a:sym typeface="Arial"/>
            </a:endParaRPr>
          </a:p>
          <a:p>
            <a:pPr marL="457200" lvl="0" indent="-333965" algn="l" rtl="0">
              <a:lnSpc>
                <a:spcPct val="115000"/>
              </a:lnSpc>
              <a:spcBef>
                <a:spcPts val="1200"/>
              </a:spcBef>
              <a:spcAft>
                <a:spcPts val="0"/>
              </a:spcAft>
              <a:buClr>
                <a:srgbClr val="000000"/>
              </a:buClr>
              <a:buSzPct val="100000"/>
              <a:buFont typeface="Arial"/>
              <a:buChar char="●"/>
            </a:pPr>
            <a:r>
              <a:rPr lang="en" sz="2370">
                <a:solidFill>
                  <a:srgbClr val="000000"/>
                </a:solidFill>
                <a:latin typeface="Arial"/>
                <a:ea typeface="Arial"/>
                <a:cs typeface="Arial"/>
                <a:sym typeface="Arial"/>
              </a:rPr>
              <a:t>We are requesting additional data to refine the presented analysis. Proposed end deliverable is a dashboard to track model progression/changes for easy employment for CoGo’s operations and marketing teams.</a:t>
            </a:r>
            <a:endParaRPr/>
          </a:p>
        </p:txBody>
      </p:sp>
      <p:grpSp>
        <p:nvGrpSpPr>
          <p:cNvPr id="495" name="Google Shape;495;p31"/>
          <p:cNvGrpSpPr/>
          <p:nvPr/>
        </p:nvGrpSpPr>
        <p:grpSpPr>
          <a:xfrm>
            <a:off x="4939534" y="2017046"/>
            <a:ext cx="3825543" cy="1573620"/>
            <a:chOff x="1000000" y="2393988"/>
            <a:chExt cx="4144235" cy="1704713"/>
          </a:xfrm>
        </p:grpSpPr>
        <p:sp>
          <p:nvSpPr>
            <p:cNvPr id="496" name="Google Shape;496;p31"/>
            <p:cNvSpPr/>
            <p:nvPr/>
          </p:nvSpPr>
          <p:spPr>
            <a:xfrm>
              <a:off x="1000000" y="2440003"/>
              <a:ext cx="4144235" cy="1631268"/>
            </a:xfrm>
            <a:custGeom>
              <a:avLst/>
              <a:gdLst/>
              <a:ahLst/>
              <a:cxnLst/>
              <a:rect l="l" t="t" r="r" b="b"/>
              <a:pathLst>
                <a:path w="165422" h="90088" extrusionOk="0">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w="19050" cap="flat" cmpd="sng">
              <a:solidFill>
                <a:schemeClr val="lt1"/>
              </a:solidFill>
              <a:prstDash val="solid"/>
              <a:round/>
              <a:headEnd type="oval" w="med" len="med"/>
              <a:tailEnd type="oval" w="med" len="med"/>
            </a:ln>
          </p:spPr>
          <p:txBody>
            <a:bodyPr/>
            <a:lstStyle/>
            <a:p>
              <a:endParaRPr lang="en-US"/>
            </a:p>
          </p:txBody>
        </p:sp>
        <p:sp>
          <p:nvSpPr>
            <p:cNvPr id="497" name="Google Shape;497;p31"/>
            <p:cNvSpPr/>
            <p:nvPr/>
          </p:nvSpPr>
          <p:spPr>
            <a:xfrm>
              <a:off x="4658400" y="401410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p:cNvSpPr/>
            <p:nvPr/>
          </p:nvSpPr>
          <p:spPr>
            <a:xfrm>
              <a:off x="4195525" y="314735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p:cNvSpPr/>
            <p:nvPr/>
          </p:nvSpPr>
          <p:spPr>
            <a:xfrm>
              <a:off x="3800700" y="3868900"/>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p:cNvSpPr/>
            <p:nvPr/>
          </p:nvSpPr>
          <p:spPr>
            <a:xfrm>
              <a:off x="3358650" y="2637813"/>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p:cNvSpPr/>
            <p:nvPr/>
          </p:nvSpPr>
          <p:spPr>
            <a:xfrm>
              <a:off x="2909400" y="2993013"/>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p:cNvSpPr/>
            <p:nvPr/>
          </p:nvSpPr>
          <p:spPr>
            <a:xfrm>
              <a:off x="2437450" y="2393988"/>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p:cNvSpPr/>
            <p:nvPr/>
          </p:nvSpPr>
          <p:spPr>
            <a:xfrm>
              <a:off x="1974575" y="3213325"/>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p:cNvSpPr/>
            <p:nvPr/>
          </p:nvSpPr>
          <p:spPr>
            <a:xfrm>
              <a:off x="1500000" y="2553225"/>
              <a:ext cx="84600" cy="84600"/>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5" name="Google Shape;505;p31"/>
          <p:cNvSpPr/>
          <p:nvPr/>
        </p:nvSpPr>
        <p:spPr>
          <a:xfrm>
            <a:off x="6847150" y="1577745"/>
            <a:ext cx="1179600" cy="343800"/>
          </a:xfrm>
          <a:prstGeom prst="wedgeRoundRectCallout">
            <a:avLst>
              <a:gd name="adj1" fmla="val -21432"/>
              <a:gd name="adj2" fmla="val 84969"/>
              <a:gd name="adj3"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6" name="Google Shape;506;p31"/>
          <p:cNvGrpSpPr/>
          <p:nvPr/>
        </p:nvGrpSpPr>
        <p:grpSpPr>
          <a:xfrm>
            <a:off x="4939557" y="1778136"/>
            <a:ext cx="3836911" cy="1503799"/>
            <a:chOff x="1000025" y="2059300"/>
            <a:chExt cx="4156550" cy="1629075"/>
          </a:xfrm>
        </p:grpSpPr>
        <p:sp>
          <p:nvSpPr>
            <p:cNvPr id="507" name="Google Shape;507;p31"/>
            <p:cNvSpPr/>
            <p:nvPr/>
          </p:nvSpPr>
          <p:spPr>
            <a:xfrm>
              <a:off x="1000025" y="2083952"/>
              <a:ext cx="4156550" cy="1576975"/>
            </a:xfrm>
            <a:custGeom>
              <a:avLst/>
              <a:gdLst/>
              <a:ahLst/>
              <a:cxnLst/>
              <a:rect l="l" t="t" r="r" b="b"/>
              <a:pathLst>
                <a:path w="166262" h="63079" extrusionOk="0">
                  <a:moveTo>
                    <a:pt x="0" y="34952"/>
                  </a:moveTo>
                  <a:cubicBezTo>
                    <a:pt x="3623" y="29133"/>
                    <a:pt x="14946" y="1167"/>
                    <a:pt x="21740" y="37"/>
                  </a:cubicBezTo>
                  <a:cubicBezTo>
                    <a:pt x="28534" y="-1093"/>
                    <a:pt x="34478" y="24048"/>
                    <a:pt x="40762" y="28172"/>
                  </a:cubicBezTo>
                  <a:cubicBezTo>
                    <a:pt x="47046" y="32296"/>
                    <a:pt x="53256" y="18986"/>
                    <a:pt x="59446" y="24782"/>
                  </a:cubicBezTo>
                  <a:cubicBezTo>
                    <a:pt x="65636" y="30578"/>
                    <a:pt x="71730" y="60803"/>
                    <a:pt x="77901" y="62950"/>
                  </a:cubicBezTo>
                  <a:cubicBezTo>
                    <a:pt x="84072" y="65097"/>
                    <a:pt x="90490" y="39675"/>
                    <a:pt x="96472" y="37664"/>
                  </a:cubicBezTo>
                  <a:cubicBezTo>
                    <a:pt x="102455" y="35653"/>
                    <a:pt x="108078" y="54726"/>
                    <a:pt x="113796" y="50884"/>
                  </a:cubicBezTo>
                  <a:cubicBezTo>
                    <a:pt x="119514" y="47042"/>
                    <a:pt x="125063" y="18059"/>
                    <a:pt x="130781" y="14613"/>
                  </a:cubicBezTo>
                  <a:cubicBezTo>
                    <a:pt x="136499" y="11167"/>
                    <a:pt x="142192" y="30515"/>
                    <a:pt x="148105" y="30206"/>
                  </a:cubicBezTo>
                  <a:cubicBezTo>
                    <a:pt x="154019" y="29897"/>
                    <a:pt x="163236" y="15665"/>
                    <a:pt x="166262" y="12757"/>
                  </a:cubicBezTo>
                </a:path>
              </a:pathLst>
            </a:custGeom>
            <a:noFill/>
            <a:ln w="19050" cap="flat" cmpd="sng">
              <a:solidFill>
                <a:schemeClr val="accent4"/>
              </a:solidFill>
              <a:prstDash val="solid"/>
              <a:round/>
              <a:headEnd type="oval" w="med" len="med"/>
              <a:tailEnd type="oval" w="med" len="med"/>
            </a:ln>
          </p:spPr>
          <p:txBody>
            <a:bodyPr/>
            <a:lstStyle/>
            <a:p>
              <a:endParaRPr lang="en-US"/>
            </a:p>
          </p:txBody>
        </p:sp>
        <p:sp>
          <p:nvSpPr>
            <p:cNvPr id="508" name="Google Shape;508;p31"/>
            <p:cNvSpPr/>
            <p:nvPr/>
          </p:nvSpPr>
          <p:spPr>
            <a:xfrm>
              <a:off x="1500000" y="2059300"/>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1974575" y="27372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2437450" y="26526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p:cNvSpPr/>
            <p:nvPr/>
          </p:nvSpPr>
          <p:spPr>
            <a:xfrm>
              <a:off x="2909400" y="36037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p:cNvSpPr/>
            <p:nvPr/>
          </p:nvSpPr>
          <p:spPr>
            <a:xfrm>
              <a:off x="3358650" y="299302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p:cNvSpPr/>
            <p:nvPr/>
          </p:nvSpPr>
          <p:spPr>
            <a:xfrm>
              <a:off x="3780700" y="331522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p:cNvSpPr/>
            <p:nvPr/>
          </p:nvSpPr>
          <p:spPr>
            <a:xfrm>
              <a:off x="4216350" y="2412175"/>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p:cNvSpPr/>
            <p:nvPr/>
          </p:nvSpPr>
          <p:spPr>
            <a:xfrm>
              <a:off x="4658400" y="2802450"/>
              <a:ext cx="84600" cy="84600"/>
            </a:xfrm>
            <a:prstGeom prst="ellipse">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32"/>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44ae497-40df-4094-93f7-434fdc68f94d}" enabled="1" method="Standard" siteId="{49d8b68c-4994-4077-9e38-e112c21fd0e3}" contentBits="0" removed="0"/>
</clbl:labelList>
</file>

<file path=docProps/app.xml><?xml version="1.0" encoding="utf-8"?>
<Properties xmlns="http://schemas.openxmlformats.org/officeDocument/2006/extended-properties" xmlns:vt="http://schemas.openxmlformats.org/officeDocument/2006/docPropsVTypes">
  <TotalTime>0</TotalTime>
  <Words>2661</Words>
  <Application>Microsoft Office PowerPoint</Application>
  <PresentationFormat>On-screen Show (16:9)</PresentationFormat>
  <Paragraphs>316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Nunito</vt:lpstr>
      <vt:lpstr>Maven Pro</vt:lpstr>
      <vt:lpstr>Momentum</vt:lpstr>
      <vt:lpstr>CoGo Bikeshare Data Analysis By  Data Py-oneers </vt:lpstr>
      <vt:lpstr>Accurate predictions enable more efficient planning and resource allocation. While improving the customer experience.</vt:lpstr>
      <vt:lpstr>Problems of Interest</vt:lpstr>
      <vt:lpstr>Available Data</vt:lpstr>
      <vt:lpstr>Methodology </vt:lpstr>
      <vt:lpstr>Data Wrangling / Exploratory Data Analysis (EDA)</vt:lpstr>
      <vt:lpstr>Data Wrangling (cont.)</vt:lpstr>
      <vt:lpstr>Data Wrangling (cont.)</vt:lpstr>
      <vt:lpstr>Data Wrangling (cont.)</vt:lpstr>
      <vt:lpstr>Approach</vt:lpstr>
      <vt:lpstr>Assumptions</vt:lpstr>
      <vt:lpstr>Predictive Modeling</vt:lpstr>
      <vt:lpstr>Predictive Modeling</vt:lpstr>
      <vt:lpstr>Predictive Modeling</vt:lpstr>
      <vt:lpstr>Predictive Modeling</vt:lpstr>
      <vt:lpstr>Classification Modeling</vt:lpstr>
      <vt:lpstr>Classification Modeling</vt:lpstr>
      <vt:lpstr>Future Opportunities </vt:lpstr>
      <vt:lpstr>Investing in a smarter ride </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Allen, Emma</cp:lastModifiedBy>
  <cp:revision>1</cp:revision>
  <dcterms:modified xsi:type="dcterms:W3CDTF">2025-10-06T02:33:33Z</dcterms:modified>
</cp:coreProperties>
</file>